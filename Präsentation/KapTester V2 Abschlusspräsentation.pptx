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6858000" cx="12192000"/>
  <p:notesSz cx="6858000" cy="9144000"/>
  <p:embeddedFontLst>
    <p:embeddedFont>
      <p:font typeface="Lato"/>
      <p:regular r:id="rId20"/>
      <p:bold r:id="rId21"/>
      <p:italic r:id="rId22"/>
      <p:boldItalic r:id="rId23"/>
    </p:embeddedFont>
    <p:embeddedFont>
      <p:font typeface="Poppins"/>
      <p:regular r:id="rId24"/>
      <p:bold r:id="rId25"/>
      <p:italic r:id="rId26"/>
      <p:boldItalic r:id="rId27"/>
    </p:embeddedFont>
    <p:embeddedFont>
      <p:font typeface="Azeret Mono"/>
      <p:regular r:id="rId28"/>
      <p:bold r:id="rId29"/>
      <p:italic r:id="rId30"/>
      <p:boldItalic r:id="rId31"/>
    </p:embeddedFont>
    <p:embeddedFont>
      <p:font typeface="Poppins SemiBold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D240708-22BF-46FA-B4F5-5D2387F73AF8}">
  <a:tblStyle styleId="{CD240708-22BF-46FA-B4F5-5D2387F73AF8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regular.fntdata"/><Relationship Id="rId22" Type="http://schemas.openxmlformats.org/officeDocument/2006/relationships/font" Target="fonts/Lato-italic.fntdata"/><Relationship Id="rId21" Type="http://schemas.openxmlformats.org/officeDocument/2006/relationships/font" Target="fonts/Lato-bold.fntdata"/><Relationship Id="rId24" Type="http://schemas.openxmlformats.org/officeDocument/2006/relationships/font" Target="fonts/Poppins-regular.fntdata"/><Relationship Id="rId23" Type="http://schemas.openxmlformats.org/officeDocument/2006/relationships/font" Target="fonts/Lato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Poppins-italic.fntdata"/><Relationship Id="rId25" Type="http://schemas.openxmlformats.org/officeDocument/2006/relationships/font" Target="fonts/Poppins-bold.fntdata"/><Relationship Id="rId28" Type="http://schemas.openxmlformats.org/officeDocument/2006/relationships/font" Target="fonts/AzeretMono-regular.fntdata"/><Relationship Id="rId27" Type="http://schemas.openxmlformats.org/officeDocument/2006/relationships/font" Target="fonts/Poppins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AzeretMono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AzeretMono-boldItalic.fntdata"/><Relationship Id="rId30" Type="http://schemas.openxmlformats.org/officeDocument/2006/relationships/font" Target="fonts/AzeretMono-italic.fntdata"/><Relationship Id="rId11" Type="http://schemas.openxmlformats.org/officeDocument/2006/relationships/slide" Target="slides/slide5.xml"/><Relationship Id="rId33" Type="http://schemas.openxmlformats.org/officeDocument/2006/relationships/font" Target="fonts/PoppinsSemiBold-bold.fntdata"/><Relationship Id="rId10" Type="http://schemas.openxmlformats.org/officeDocument/2006/relationships/slide" Target="slides/slide4.xml"/><Relationship Id="rId32" Type="http://schemas.openxmlformats.org/officeDocument/2006/relationships/font" Target="fonts/PoppinsSemiBold-regular.fntdata"/><Relationship Id="rId13" Type="http://schemas.openxmlformats.org/officeDocument/2006/relationships/slide" Target="slides/slide7.xml"/><Relationship Id="rId35" Type="http://schemas.openxmlformats.org/officeDocument/2006/relationships/font" Target="fonts/PoppinsSemiBold-boldItalic.fntdata"/><Relationship Id="rId12" Type="http://schemas.openxmlformats.org/officeDocument/2006/relationships/slide" Target="slides/slide6.xml"/><Relationship Id="rId34" Type="http://schemas.openxmlformats.org/officeDocument/2006/relationships/font" Target="fonts/PoppinsSemiBold-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11.png"/><Relationship Id="rId5" Type="http://schemas.openxmlformats.org/officeDocument/2006/relationships/image" Target="../media/image2.png"/><Relationship Id="rId6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1" Type="http://schemas.openxmlformats.org/officeDocument/2006/relationships/image" Target="../media/image35.png"/><Relationship Id="rId10" Type="http://schemas.openxmlformats.org/officeDocument/2006/relationships/image" Target="../media/image10.png"/><Relationship Id="rId13" Type="http://schemas.openxmlformats.org/officeDocument/2006/relationships/image" Target="../media/image12.png"/><Relationship Id="rId1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4.png"/><Relationship Id="rId9" Type="http://schemas.openxmlformats.org/officeDocument/2006/relationships/image" Target="../media/image6.png"/><Relationship Id="rId15" Type="http://schemas.openxmlformats.org/officeDocument/2006/relationships/image" Target="../media/image14.png"/><Relationship Id="rId14" Type="http://schemas.openxmlformats.org/officeDocument/2006/relationships/image" Target="../media/image25.png"/><Relationship Id="rId17" Type="http://schemas.openxmlformats.org/officeDocument/2006/relationships/image" Target="../media/image17.png"/><Relationship Id="rId16" Type="http://schemas.openxmlformats.org/officeDocument/2006/relationships/image" Target="../media/image26.png"/><Relationship Id="rId5" Type="http://schemas.openxmlformats.org/officeDocument/2006/relationships/image" Target="../media/image32.png"/><Relationship Id="rId6" Type="http://schemas.openxmlformats.org/officeDocument/2006/relationships/image" Target="../media/image7.png"/><Relationship Id="rId7" Type="http://schemas.openxmlformats.org/officeDocument/2006/relationships/image" Target="../media/image5.png"/><Relationship Id="rId8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15.png"/><Relationship Id="rId5" Type="http://schemas.openxmlformats.org/officeDocument/2006/relationships/image" Target="../media/image13.png"/><Relationship Id="rId6" Type="http://schemas.openxmlformats.org/officeDocument/2006/relationships/image" Target="../media/image31.png"/><Relationship Id="rId7" Type="http://schemas.openxmlformats.org/officeDocument/2006/relationships/image" Target="../media/image16.png"/><Relationship Id="rId8" Type="http://schemas.openxmlformats.org/officeDocument/2006/relationships/image" Target="../media/image3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19.png"/><Relationship Id="rId5" Type="http://schemas.openxmlformats.org/officeDocument/2006/relationships/image" Target="../media/image21.png"/><Relationship Id="rId6" Type="http://schemas.openxmlformats.org/officeDocument/2006/relationships/image" Target="../media/image28.png"/><Relationship Id="rId7" Type="http://schemas.openxmlformats.org/officeDocument/2006/relationships/image" Target="../media/image39.png"/><Relationship Id="rId8" Type="http://schemas.openxmlformats.org/officeDocument/2006/relationships/image" Target="../media/image18.png"/></Relationships>
</file>

<file path=ppt/slides/_rels/slide5.xml.rels><?xml version="1.0" encoding="UTF-8" standalone="yes"?><Relationships xmlns="http://schemas.openxmlformats.org/package/2006/relationships"><Relationship Id="rId11" Type="http://schemas.openxmlformats.org/officeDocument/2006/relationships/image" Target="../media/image51.png"/><Relationship Id="rId10" Type="http://schemas.openxmlformats.org/officeDocument/2006/relationships/image" Target="../media/image5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0.png"/><Relationship Id="rId4" Type="http://schemas.openxmlformats.org/officeDocument/2006/relationships/image" Target="../media/image23.png"/><Relationship Id="rId9" Type="http://schemas.openxmlformats.org/officeDocument/2006/relationships/image" Target="../media/image27.png"/><Relationship Id="rId5" Type="http://schemas.openxmlformats.org/officeDocument/2006/relationships/image" Target="../media/image22.png"/><Relationship Id="rId6" Type="http://schemas.openxmlformats.org/officeDocument/2006/relationships/image" Target="../media/image24.png"/><Relationship Id="rId7" Type="http://schemas.openxmlformats.org/officeDocument/2006/relationships/image" Target="../media/image42.png"/><Relationship Id="rId8" Type="http://schemas.openxmlformats.org/officeDocument/2006/relationships/image" Target="../media/image3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29.png"/><Relationship Id="rId5" Type="http://schemas.openxmlformats.org/officeDocument/2006/relationships/image" Target="../media/image40.png"/><Relationship Id="rId6" Type="http://schemas.openxmlformats.org/officeDocument/2006/relationships/image" Target="../media/image5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34.png"/><Relationship Id="rId5" Type="http://schemas.openxmlformats.org/officeDocument/2006/relationships/image" Target="../media/image37.png"/><Relationship Id="rId6" Type="http://schemas.openxmlformats.org/officeDocument/2006/relationships/image" Target="../media/image56.png"/><Relationship Id="rId7" Type="http://schemas.openxmlformats.org/officeDocument/2006/relationships/image" Target="../media/image38.png"/><Relationship Id="rId8" Type="http://schemas.openxmlformats.org/officeDocument/2006/relationships/image" Target="../media/image4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3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49.png"/><Relationship Id="rId5" Type="http://schemas.openxmlformats.org/officeDocument/2006/relationships/image" Target="../media/image43.png"/><Relationship Id="rId6" Type="http://schemas.openxmlformats.org/officeDocument/2006/relationships/image" Target="../media/image44.png"/><Relationship Id="rId7" Type="http://schemas.openxmlformats.org/officeDocument/2006/relationships/image" Target="../media/image5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46.png"/><Relationship Id="rId5" Type="http://schemas.openxmlformats.org/officeDocument/2006/relationships/image" Target="../media/image48.png"/><Relationship Id="rId6" Type="http://schemas.openxmlformats.org/officeDocument/2006/relationships/image" Target="../media/image6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Relationship Id="rId4" Type="http://schemas.openxmlformats.org/officeDocument/2006/relationships/image" Target="../media/image45.png"/><Relationship Id="rId5" Type="http://schemas.openxmlformats.org/officeDocument/2006/relationships/image" Target="../media/image47.png"/><Relationship Id="rId6" Type="http://schemas.openxmlformats.org/officeDocument/2006/relationships/image" Target="../media/image5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Relationship Id="rId4" Type="http://schemas.openxmlformats.org/officeDocument/2006/relationships/image" Target="../media/image5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Relationship Id="rId4" Type="http://schemas.openxmlformats.org/officeDocument/2006/relationships/image" Target="../media/image53.png"/><Relationship Id="rId5" Type="http://schemas.openxmlformats.org/officeDocument/2006/relationships/image" Target="../media/image59.png"/><Relationship Id="rId6" Type="http://schemas.openxmlformats.org/officeDocument/2006/relationships/image" Target="../media/image5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750" y="3722340"/>
            <a:ext cx="5238750" cy="14495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" name="Google Shape;86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1190625"/>
            <a:ext cx="476250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666750" y="6505575"/>
            <a:ext cx="31813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KapTester V2 · Nico Schmidt · Prüflingsnr: (133)-1251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666750" y="1514623"/>
            <a:ext cx="52387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0B981"/>
                </a:solidFill>
                <a:latin typeface="Lato"/>
                <a:ea typeface="Lato"/>
                <a:cs typeface="Lato"/>
                <a:sym typeface="Lato"/>
              </a:rPr>
              <a:t>IHK OSNABRÜCK · AP2 2026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666750" y="1876573"/>
            <a:ext cx="5500687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KapTester V2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666750" y="2648098"/>
            <a:ext cx="5238750" cy="693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Kapazitätstester für Elektrolytkondensatoren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95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 (10 µF – 10.000 µF)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666750" y="4208115"/>
            <a:ext cx="52387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Nico Schmidt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Elektroniker für Geräte und Systeme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66750" y="4932015"/>
            <a:ext cx="5238750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GBS TEMPEST und Service GmbH</a:t>
            </a:r>
            <a:endParaRPr/>
          </a:p>
        </p:txBody>
      </p:sp>
      <p:pic>
        <p:nvPicPr>
          <p:cNvPr descr="image.png" id="93" name="Google Shape;93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91462" y="3105150"/>
            <a:ext cx="4572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8" name="Google Shape;9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750" y="1304925"/>
            <a:ext cx="3524250" cy="1596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33875" y="1304925"/>
            <a:ext cx="3524250" cy="1596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01000" y="1304925"/>
            <a:ext cx="3524250" cy="1596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6750" y="3044725"/>
            <a:ext cx="3524250" cy="15970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33875" y="3044725"/>
            <a:ext cx="3524250" cy="15970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01000" y="3044725"/>
            <a:ext cx="3524250" cy="15970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6750" y="4784675"/>
            <a:ext cx="3524250" cy="15970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333875" y="4784675"/>
            <a:ext cx="3524250" cy="15970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001000" y="4784675"/>
            <a:ext cx="3524250" cy="1597074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4"/>
          <p:cNvSpPr txBox="1"/>
          <p:nvPr/>
        </p:nvSpPr>
        <p:spPr>
          <a:xfrm>
            <a:off x="1162050" y="476250"/>
            <a:ext cx="10881360" cy="542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Projekt-Gliederung</a:t>
            </a:r>
            <a:endParaRPr/>
          </a:p>
        </p:txBody>
      </p:sp>
      <p:sp>
        <p:nvSpPr>
          <p:cNvPr id="109" name="Google Shape;109;p14"/>
          <p:cNvSpPr/>
          <p:nvPr/>
        </p:nvSpPr>
        <p:spPr>
          <a:xfrm>
            <a:off x="666750" y="1019175"/>
            <a:ext cx="64103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10" name="Google Shape;110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66750" y="595312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4"/>
          <p:cNvSpPr txBox="1"/>
          <p:nvPr/>
        </p:nvSpPr>
        <p:spPr>
          <a:xfrm>
            <a:off x="847725" y="2522785"/>
            <a:ext cx="3162300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Problem &amp; Zielsetzung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4514850" y="2522785"/>
            <a:ext cx="3162300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Physik &amp; Grundlagen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8181975" y="2522785"/>
            <a:ext cx="3162300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System &amp; Architektur</a:t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847725" y="4262735"/>
            <a:ext cx="3162300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Analyse Risiko R6</a:t>
            </a:r>
            <a:endParaRPr/>
          </a:p>
        </p:txBody>
      </p:sp>
      <p:sp>
        <p:nvSpPr>
          <p:cNvPr id="115" name="Google Shape;115;p14"/>
          <p:cNvSpPr txBox="1"/>
          <p:nvPr/>
        </p:nvSpPr>
        <p:spPr>
          <a:xfrm>
            <a:off x="4514850" y="4262735"/>
            <a:ext cx="3162300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Fixes &amp; Korrekturen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8181975" y="4262735"/>
            <a:ext cx="3162300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Löten &amp; Montage</a:t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847725" y="6002684"/>
            <a:ext cx="3162300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Software-Design C</a:t>
            </a:r>
            <a:endParaRPr/>
          </a:p>
        </p:txBody>
      </p:sp>
      <p:sp>
        <p:nvSpPr>
          <p:cNvPr id="118" name="Google Shape;118;p14"/>
          <p:cNvSpPr txBox="1"/>
          <p:nvPr/>
        </p:nvSpPr>
        <p:spPr>
          <a:xfrm>
            <a:off x="4514850" y="6002684"/>
            <a:ext cx="3162300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Messung &amp; JTPs</a:t>
            </a:r>
            <a:endParaRPr/>
          </a:p>
        </p:txBody>
      </p:sp>
      <p:sp>
        <p:nvSpPr>
          <p:cNvPr id="119" name="Google Shape;119;p14"/>
          <p:cNvSpPr txBox="1"/>
          <p:nvPr/>
        </p:nvSpPr>
        <p:spPr>
          <a:xfrm>
            <a:off x="8181975" y="6002684"/>
            <a:ext cx="3162300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Learnings &amp; Ausblick</a:t>
            </a:r>
            <a:endParaRPr/>
          </a:p>
        </p:txBody>
      </p:sp>
      <p:pic>
        <p:nvPicPr>
          <p:cNvPr descr="image.png" id="120" name="Google Shape;120;p1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47725" y="1514475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4"/>
          <p:cNvSpPr txBox="1"/>
          <p:nvPr/>
        </p:nvSpPr>
        <p:spPr>
          <a:xfrm>
            <a:off x="1190625" y="1485900"/>
            <a:ext cx="1060132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01 Auftrag</a:t>
            </a:r>
            <a:endParaRPr/>
          </a:p>
        </p:txBody>
      </p:sp>
      <p:pic>
        <p:nvPicPr>
          <p:cNvPr descr="image.png" id="122" name="Google Shape;122;p1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514850" y="1514475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4"/>
          <p:cNvSpPr txBox="1"/>
          <p:nvPr/>
        </p:nvSpPr>
        <p:spPr>
          <a:xfrm>
            <a:off x="4829175" y="1485900"/>
            <a:ext cx="1510188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02 Messprinzip</a:t>
            </a:r>
            <a:endParaRPr/>
          </a:p>
        </p:txBody>
      </p:sp>
      <p:pic>
        <p:nvPicPr>
          <p:cNvPr descr="image.png" id="124" name="Google Shape;124;p1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181975" y="1514475"/>
            <a:ext cx="2571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4"/>
          <p:cNvSpPr txBox="1"/>
          <p:nvPr/>
        </p:nvSpPr>
        <p:spPr>
          <a:xfrm>
            <a:off x="8553450" y="1485900"/>
            <a:ext cx="1350168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03 Schaltung</a:t>
            </a:r>
            <a:endParaRPr/>
          </a:p>
        </p:txBody>
      </p:sp>
      <p:pic>
        <p:nvPicPr>
          <p:cNvPr descr="image.png" id="126" name="Google Shape;126;p14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847725" y="3254275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4"/>
          <p:cNvSpPr txBox="1"/>
          <p:nvPr/>
        </p:nvSpPr>
        <p:spPr>
          <a:xfrm>
            <a:off x="1190625" y="3225700"/>
            <a:ext cx="1370171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04 V1 - Fehler</a:t>
            </a:r>
            <a:endParaRPr/>
          </a:p>
        </p:txBody>
      </p:sp>
      <p:pic>
        <p:nvPicPr>
          <p:cNvPr descr="image.png" id="128" name="Google Shape;128;p14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4514850" y="3254275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4"/>
          <p:cNvSpPr txBox="1"/>
          <p:nvPr/>
        </p:nvSpPr>
        <p:spPr>
          <a:xfrm>
            <a:off x="4857750" y="3225700"/>
            <a:ext cx="1510188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05 V2 - Lösung</a:t>
            </a:r>
            <a:endParaRPr/>
          </a:p>
        </p:txBody>
      </p:sp>
      <p:sp>
        <p:nvSpPr>
          <p:cNvPr id="130" name="Google Shape;130;p14"/>
          <p:cNvSpPr txBox="1"/>
          <p:nvPr/>
        </p:nvSpPr>
        <p:spPr>
          <a:xfrm>
            <a:off x="8296275" y="3225700"/>
            <a:ext cx="1290161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06 Fertigung</a:t>
            </a:r>
            <a:endParaRPr/>
          </a:p>
        </p:txBody>
      </p:sp>
      <p:pic>
        <p:nvPicPr>
          <p:cNvPr descr="image.png" id="131" name="Google Shape;131;p14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847725" y="4994225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4"/>
          <p:cNvSpPr txBox="1"/>
          <p:nvPr/>
        </p:nvSpPr>
        <p:spPr>
          <a:xfrm>
            <a:off x="1247775" y="4965650"/>
            <a:ext cx="126015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07 Firmware</a:t>
            </a:r>
            <a:endParaRPr/>
          </a:p>
        </p:txBody>
      </p:sp>
      <p:pic>
        <p:nvPicPr>
          <p:cNvPr descr="image.png" id="133" name="Google Shape;133;p14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4514850" y="4994225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4"/>
          <p:cNvSpPr txBox="1"/>
          <p:nvPr/>
        </p:nvSpPr>
        <p:spPr>
          <a:xfrm>
            <a:off x="4857750" y="4965650"/>
            <a:ext cx="1490186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08 Validierung</a:t>
            </a:r>
            <a:endParaRPr/>
          </a:p>
        </p:txBody>
      </p:sp>
      <p:pic>
        <p:nvPicPr>
          <p:cNvPr descr="image.png" id="135" name="Google Shape;135;p14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8181975" y="4994225"/>
            <a:ext cx="1714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4"/>
          <p:cNvSpPr txBox="1"/>
          <p:nvPr/>
        </p:nvSpPr>
        <p:spPr>
          <a:xfrm>
            <a:off x="8467725" y="4965650"/>
            <a:ext cx="78009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09 Fazit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1" name="Google Shape;14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750" y="2286000"/>
            <a:ext cx="5238750" cy="2181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286000"/>
            <a:ext cx="5238750" cy="2181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5"/>
          <p:cNvSpPr txBox="1"/>
          <p:nvPr/>
        </p:nvSpPr>
        <p:spPr>
          <a:xfrm>
            <a:off x="1162050" y="476250"/>
            <a:ext cx="10881360" cy="542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Ausgangssituation &amp; Auftrag</a:t>
            </a:r>
            <a:endParaRPr/>
          </a:p>
        </p:txBody>
      </p:sp>
      <p:sp>
        <p:nvSpPr>
          <p:cNvPr id="145" name="Google Shape;145;p15"/>
          <p:cNvSpPr/>
          <p:nvPr/>
        </p:nvSpPr>
        <p:spPr>
          <a:xfrm>
            <a:off x="666750" y="1019175"/>
            <a:ext cx="46005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46" name="Google Shape;146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6750" y="595312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5"/>
          <p:cNvSpPr txBox="1"/>
          <p:nvPr/>
        </p:nvSpPr>
        <p:spPr>
          <a:xfrm>
            <a:off x="666750" y="4752975"/>
            <a:ext cx="10858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✓ Vergleich UNI-T UT61E (&gt; 30s) zu KapTester (&lt; 15s) für 10 mF.</a:t>
            </a:r>
            <a:endParaRPr/>
          </a:p>
        </p:txBody>
      </p:sp>
      <p:sp>
        <p:nvSpPr>
          <p:cNvPr id="148" name="Google Shape;148;p15"/>
          <p:cNvSpPr txBox="1"/>
          <p:nvPr/>
        </p:nvSpPr>
        <p:spPr>
          <a:xfrm>
            <a:off x="914400" y="2476500"/>
            <a:ext cx="504063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476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EF444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Das Problem</a:t>
            </a:r>
            <a:endParaRPr/>
          </a:p>
        </p:txBody>
      </p:sp>
      <p:sp>
        <p:nvSpPr>
          <p:cNvPr id="149" name="Google Shape;149;p15"/>
          <p:cNvSpPr txBox="1"/>
          <p:nvPr/>
        </p:nvSpPr>
        <p:spPr>
          <a:xfrm>
            <a:off x="6534150" y="2476500"/>
            <a:ext cx="504063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476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05966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Das Ziel</a:t>
            </a:r>
            <a:endParaRPr/>
          </a:p>
        </p:txBody>
      </p:sp>
      <p:pic>
        <p:nvPicPr>
          <p:cNvPr descr="image.png" id="150" name="Google Shape;150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14400" y="2533650"/>
            <a:ext cx="2476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5"/>
          <p:cNvSpPr txBox="1"/>
          <p:nvPr/>
        </p:nvSpPr>
        <p:spPr>
          <a:xfrm>
            <a:off x="990600" y="3028950"/>
            <a:ext cx="1143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52" name="Google Shape;152;p15"/>
          <p:cNvSpPr txBox="1"/>
          <p:nvPr/>
        </p:nvSpPr>
        <p:spPr>
          <a:xfrm>
            <a:off x="1104900" y="3028950"/>
            <a:ext cx="46101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Kein Prüfmittel für große Elkos (&gt; 1 mF) im Betrieb.</a:t>
            </a:r>
            <a:endParaRPr/>
          </a:p>
        </p:txBody>
      </p:sp>
      <p:sp>
        <p:nvSpPr>
          <p:cNvPr id="153" name="Google Shape;153;p15"/>
          <p:cNvSpPr txBox="1"/>
          <p:nvPr/>
        </p:nvSpPr>
        <p:spPr>
          <a:xfrm>
            <a:off x="990600" y="3295650"/>
            <a:ext cx="1143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54" name="Google Shape;154;p15"/>
          <p:cNvSpPr txBox="1"/>
          <p:nvPr/>
        </p:nvSpPr>
        <p:spPr>
          <a:xfrm>
            <a:off x="1104900" y="3295650"/>
            <a:ext cx="46101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DMM ungenau, zu langsam (&gt; 30s) oder fehlerhaft.</a:t>
            </a:r>
            <a:endParaRPr/>
          </a:p>
        </p:txBody>
      </p:sp>
      <p:sp>
        <p:nvSpPr>
          <p:cNvPr id="155" name="Google Shape;155;p15"/>
          <p:cNvSpPr txBox="1"/>
          <p:nvPr/>
        </p:nvSpPr>
        <p:spPr>
          <a:xfrm>
            <a:off x="990600" y="3562350"/>
            <a:ext cx="1143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56" name="Google Shape;156;p15"/>
          <p:cNvSpPr txBox="1"/>
          <p:nvPr/>
        </p:nvSpPr>
        <p:spPr>
          <a:xfrm>
            <a:off x="1104900" y="3562350"/>
            <a:ext cx="46101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Sicherheitsrisiko durch Restladung/Verpolung.</a:t>
            </a:r>
            <a:endParaRPr/>
          </a:p>
        </p:txBody>
      </p:sp>
      <p:pic>
        <p:nvPicPr>
          <p:cNvPr descr="image.png" id="157" name="Google Shape;157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34150" y="2533650"/>
            <a:ext cx="2476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5"/>
          <p:cNvSpPr txBox="1"/>
          <p:nvPr/>
        </p:nvSpPr>
        <p:spPr>
          <a:xfrm>
            <a:off x="6610350" y="3028950"/>
            <a:ext cx="1143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59" name="Google Shape;159;p15"/>
          <p:cNvSpPr txBox="1"/>
          <p:nvPr/>
        </p:nvSpPr>
        <p:spPr>
          <a:xfrm>
            <a:off x="6724650" y="3028950"/>
            <a:ext cx="46101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Messbereich: 10 µF – 10.000 µF.</a:t>
            </a:r>
            <a:endParaRPr/>
          </a:p>
        </p:txBody>
      </p:sp>
      <p:sp>
        <p:nvSpPr>
          <p:cNvPr id="160" name="Google Shape;160;p15"/>
          <p:cNvSpPr txBox="1"/>
          <p:nvPr/>
        </p:nvSpPr>
        <p:spPr>
          <a:xfrm>
            <a:off x="6610350" y="3295650"/>
            <a:ext cx="1143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61" name="Google Shape;161;p15"/>
          <p:cNvSpPr txBox="1"/>
          <p:nvPr/>
        </p:nvSpPr>
        <p:spPr>
          <a:xfrm>
            <a:off x="6724650" y="3295650"/>
            <a:ext cx="46101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PMOS Verpolschutz: Sicherheit für MCU &amp; DUT.</a:t>
            </a:r>
            <a:endParaRPr/>
          </a:p>
        </p:txBody>
      </p:sp>
      <p:sp>
        <p:nvSpPr>
          <p:cNvPr id="162" name="Google Shape;162;p15"/>
          <p:cNvSpPr txBox="1"/>
          <p:nvPr/>
        </p:nvSpPr>
        <p:spPr>
          <a:xfrm>
            <a:off x="6610350" y="3562350"/>
            <a:ext cx="1143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63" name="Google Shape;163;p15"/>
          <p:cNvSpPr txBox="1"/>
          <p:nvPr/>
        </p:nvSpPr>
        <p:spPr>
          <a:xfrm>
            <a:off x="6724650" y="3562350"/>
            <a:ext cx="46101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Autom. Entladung: ≤ 10s via NMOS Q2.</a:t>
            </a:r>
            <a:endParaRPr/>
          </a:p>
        </p:txBody>
      </p:sp>
      <p:sp>
        <p:nvSpPr>
          <p:cNvPr id="164" name="Google Shape;164;p15"/>
          <p:cNvSpPr txBox="1"/>
          <p:nvPr/>
        </p:nvSpPr>
        <p:spPr>
          <a:xfrm>
            <a:off x="6610350" y="3829050"/>
            <a:ext cx="1143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65" name="Google Shape;165;p15"/>
          <p:cNvSpPr txBox="1"/>
          <p:nvPr/>
        </p:nvSpPr>
        <p:spPr>
          <a:xfrm>
            <a:off x="6724650" y="3829050"/>
            <a:ext cx="46101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Benutzerführung: OLED Interface.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0" name="Google Shape;17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1" name="Google Shape;17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750" y="1964680"/>
            <a:ext cx="10858500" cy="14332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2" name="Google Shape;172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6750" y="3636019"/>
            <a:ext cx="5238750" cy="1895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3" name="Google Shape;173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0" y="4283719"/>
            <a:ext cx="5238750" cy="1230362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6"/>
          <p:cNvSpPr txBox="1"/>
          <p:nvPr/>
        </p:nvSpPr>
        <p:spPr>
          <a:xfrm>
            <a:off x="1123950" y="476250"/>
            <a:ext cx="10921365" cy="542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Idee &amp; Messprinzip</a:t>
            </a:r>
            <a:endParaRPr/>
          </a:p>
        </p:txBody>
      </p:sp>
      <p:sp>
        <p:nvSpPr>
          <p:cNvPr id="175" name="Google Shape;175;p16"/>
          <p:cNvSpPr/>
          <p:nvPr/>
        </p:nvSpPr>
        <p:spPr>
          <a:xfrm>
            <a:off x="666750" y="1019175"/>
            <a:ext cx="65436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76" name="Google Shape;176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6750" y="595312"/>
            <a:ext cx="2667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7" name="Google Shape;177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04875" y="2202805"/>
            <a:ext cx="10382250" cy="956964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6"/>
          <p:cNvSpPr txBox="1"/>
          <p:nvPr/>
        </p:nvSpPr>
        <p:spPr>
          <a:xfrm>
            <a:off x="914400" y="3826519"/>
            <a:ext cx="504063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05966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Technische Umsetzung</a:t>
            </a:r>
            <a:endParaRPr/>
          </a:p>
        </p:txBody>
      </p:sp>
      <p:sp>
        <p:nvSpPr>
          <p:cNvPr id="179" name="Google Shape;179;p16"/>
          <p:cNvSpPr txBox="1"/>
          <p:nvPr/>
        </p:nvSpPr>
        <p:spPr>
          <a:xfrm>
            <a:off x="6286500" y="3826519"/>
            <a:ext cx="52387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ist direkt proportional zur Ladezeit </a:t>
            </a: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180" name="Google Shape;180;p16"/>
          <p:cNvSpPr txBox="1"/>
          <p:nvPr/>
        </p:nvSpPr>
        <p:spPr>
          <a:xfrm>
            <a:off x="990600" y="4369444"/>
            <a:ext cx="1143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81" name="Google Shape;181;p16"/>
          <p:cNvSpPr txBox="1"/>
          <p:nvPr/>
        </p:nvSpPr>
        <p:spPr>
          <a:xfrm>
            <a:off x="1104900" y="4369444"/>
            <a:ext cx="46101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 = 1,042 mA: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Konstantstrom via LM317L.</a:t>
            </a:r>
            <a:endParaRPr/>
          </a:p>
        </p:txBody>
      </p:sp>
      <p:sp>
        <p:nvSpPr>
          <p:cNvPr id="182" name="Google Shape;182;p16"/>
          <p:cNvSpPr txBox="1"/>
          <p:nvPr/>
        </p:nvSpPr>
        <p:spPr>
          <a:xfrm>
            <a:off x="990600" y="4636144"/>
            <a:ext cx="1143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83" name="Google Shape;183;p16"/>
          <p:cNvSpPr txBox="1"/>
          <p:nvPr/>
        </p:nvSpPr>
        <p:spPr>
          <a:xfrm>
            <a:off x="1104900" y="4636144"/>
            <a:ext cx="46101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ΔU = 1,1 V: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Interne Bandgap-Referenz.</a:t>
            </a:r>
            <a:endParaRPr/>
          </a:p>
        </p:txBody>
      </p:sp>
      <p:sp>
        <p:nvSpPr>
          <p:cNvPr id="184" name="Google Shape;184;p16"/>
          <p:cNvSpPr txBox="1"/>
          <p:nvPr/>
        </p:nvSpPr>
        <p:spPr>
          <a:xfrm>
            <a:off x="990600" y="4902844"/>
            <a:ext cx="1143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85" name="Google Shape;185;p16"/>
          <p:cNvSpPr txBox="1"/>
          <p:nvPr/>
        </p:nvSpPr>
        <p:spPr>
          <a:xfrm>
            <a:off x="1104900" y="4902844"/>
            <a:ext cx="46101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 = Ladezeit: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Hardware-Timer Messung.</a:t>
            </a:r>
            <a:endParaRPr/>
          </a:p>
        </p:txBody>
      </p:sp>
      <p:sp>
        <p:nvSpPr>
          <p:cNvPr id="186" name="Google Shape;186;p16"/>
          <p:cNvSpPr txBox="1"/>
          <p:nvPr/>
        </p:nvSpPr>
        <p:spPr>
          <a:xfrm>
            <a:off x="6486525" y="4578994"/>
            <a:ext cx="4895850" cy="639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32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Begründung ±20% Toleranz: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Interne Ref (10%) + Widerstände (1%) + Bauteilstreuung. Konservativ gewählt für höchste Plausibilität.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1" name="Google Shape;19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6750" y="1462087"/>
            <a:ext cx="6286500" cy="457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2" name="Google Shape;19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34250" y="1462087"/>
            <a:ext cx="4191000" cy="11599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3" name="Google Shape;193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34250" y="2764928"/>
            <a:ext cx="4191000" cy="11599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4" name="Google Shape;194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334250" y="4067770"/>
            <a:ext cx="4191000" cy="1159966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7"/>
          <p:cNvSpPr txBox="1"/>
          <p:nvPr/>
        </p:nvSpPr>
        <p:spPr>
          <a:xfrm>
            <a:off x="1200150" y="476250"/>
            <a:ext cx="10841355" cy="542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Schaltungsentwurf &amp; System</a:t>
            </a:r>
            <a:endParaRPr/>
          </a:p>
        </p:txBody>
      </p:sp>
      <p:sp>
        <p:nvSpPr>
          <p:cNvPr id="196" name="Google Shape;196;p17"/>
          <p:cNvSpPr/>
          <p:nvPr/>
        </p:nvSpPr>
        <p:spPr>
          <a:xfrm>
            <a:off x="666750" y="1019175"/>
            <a:ext cx="45815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97" name="Google Shape;197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6750" y="595312"/>
            <a:ext cx="3429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8" name="Google Shape;198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695575" y="3595687"/>
            <a:ext cx="3429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17"/>
          <p:cNvSpPr txBox="1"/>
          <p:nvPr/>
        </p:nvSpPr>
        <p:spPr>
          <a:xfrm>
            <a:off x="7581900" y="1652587"/>
            <a:ext cx="3940492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Schutz &amp; Power</a:t>
            </a:r>
            <a:endParaRPr/>
          </a:p>
        </p:txBody>
      </p:sp>
      <p:sp>
        <p:nvSpPr>
          <p:cNvPr id="200" name="Google Shape;200;p17"/>
          <p:cNvSpPr txBox="1"/>
          <p:nvPr/>
        </p:nvSpPr>
        <p:spPr>
          <a:xfrm>
            <a:off x="7581900" y="1957387"/>
            <a:ext cx="3752850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IRLML6402 (PMOS) Verpolschutz; USB 5V mit Abblockkondensatoren.</a:t>
            </a:r>
            <a:endParaRPr/>
          </a:p>
        </p:txBody>
      </p:sp>
      <p:sp>
        <p:nvSpPr>
          <p:cNvPr id="201" name="Google Shape;201;p17"/>
          <p:cNvSpPr txBox="1"/>
          <p:nvPr/>
        </p:nvSpPr>
        <p:spPr>
          <a:xfrm>
            <a:off x="7581900" y="2955428"/>
            <a:ext cx="3940492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24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Messpfad</a:t>
            </a:r>
            <a:endParaRPr/>
          </a:p>
        </p:txBody>
      </p:sp>
      <p:sp>
        <p:nvSpPr>
          <p:cNvPr id="202" name="Google Shape;202;p17"/>
          <p:cNvSpPr txBox="1"/>
          <p:nvPr/>
        </p:nvSpPr>
        <p:spPr>
          <a:xfrm>
            <a:off x="7581900" y="3260228"/>
            <a:ext cx="3752850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LM317L Stromquelle; NMOS Entladepfad mit 470 Ω Strombegrenzung.</a:t>
            </a:r>
            <a:endParaRPr/>
          </a:p>
        </p:txBody>
      </p:sp>
      <p:sp>
        <p:nvSpPr>
          <p:cNvPr id="203" name="Google Shape;203;p17"/>
          <p:cNvSpPr txBox="1"/>
          <p:nvPr/>
        </p:nvSpPr>
        <p:spPr>
          <a:xfrm>
            <a:off x="7581900" y="4258270"/>
            <a:ext cx="3940492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Rechenkern</a:t>
            </a:r>
            <a:endParaRPr/>
          </a:p>
        </p:txBody>
      </p:sp>
      <p:sp>
        <p:nvSpPr>
          <p:cNvPr id="204" name="Google Shape;204;p17"/>
          <p:cNvSpPr txBox="1"/>
          <p:nvPr/>
        </p:nvSpPr>
        <p:spPr>
          <a:xfrm>
            <a:off x="7581900" y="4563070"/>
            <a:ext cx="3752850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ATmega328P-AU (TQFP-32); SSD1306 OLED via I2C; 16 Testpunkte.</a:t>
            </a:r>
            <a:endParaRPr/>
          </a:p>
        </p:txBody>
      </p:sp>
      <p:pic>
        <p:nvPicPr>
          <p:cNvPr descr="image.png" id="205" name="Google Shape;205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581900" y="1700212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6" name="Google Shape;206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581900" y="3003053"/>
            <a:ext cx="1524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7" name="Google Shape;207;p1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581900" y="4305895"/>
            <a:ext cx="171450" cy="17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2" name="Google Shape;21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3" name="Google Shape;213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750" y="1843087"/>
            <a:ext cx="52387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4" name="Google Shape;214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1843087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18"/>
          <p:cNvSpPr txBox="1"/>
          <p:nvPr/>
        </p:nvSpPr>
        <p:spPr>
          <a:xfrm>
            <a:off x="1162050" y="476250"/>
            <a:ext cx="10881360" cy="542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V1 – Kritischer Planungsfehler</a:t>
            </a:r>
            <a:endParaRPr/>
          </a:p>
        </p:txBody>
      </p:sp>
      <p:sp>
        <p:nvSpPr>
          <p:cNvPr id="216" name="Google Shape;216;p18"/>
          <p:cNvSpPr/>
          <p:nvPr/>
        </p:nvSpPr>
        <p:spPr>
          <a:xfrm>
            <a:off x="666750" y="1019175"/>
            <a:ext cx="44672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17" name="Google Shape;217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6750" y="595312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18"/>
          <p:cNvSpPr txBox="1"/>
          <p:nvPr/>
        </p:nvSpPr>
        <p:spPr>
          <a:xfrm>
            <a:off x="914400" y="2033587"/>
            <a:ext cx="504063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EF444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Analyse (Risiko R6)</a:t>
            </a:r>
            <a:endParaRPr/>
          </a:p>
        </p:txBody>
      </p:sp>
      <p:sp>
        <p:nvSpPr>
          <p:cNvPr id="219" name="Google Shape;219;p18"/>
          <p:cNvSpPr txBox="1"/>
          <p:nvPr/>
        </p:nvSpPr>
        <p:spPr>
          <a:xfrm>
            <a:off x="914400" y="2595562"/>
            <a:ext cx="48006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Symbol ≠ Footprint ≠ Datenblatt</a:t>
            </a:r>
            <a:endParaRPr/>
          </a:p>
        </p:txBody>
      </p:sp>
      <p:sp>
        <p:nvSpPr>
          <p:cNvPr id="220" name="Google Shape;220;p18"/>
          <p:cNvSpPr txBox="1"/>
          <p:nvPr/>
        </p:nvSpPr>
        <p:spPr>
          <a:xfrm>
            <a:off x="914400" y="3052762"/>
            <a:ext cx="4800600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KiCad-Symbol DIP-28 genutzt, aber TQFP-32 bestellt. Alle 32 Pins falsch verdrahtet. Platine V1 nie funktional.</a:t>
            </a:r>
            <a:endParaRPr/>
          </a:p>
        </p:txBody>
      </p:sp>
      <p:sp>
        <p:nvSpPr>
          <p:cNvPr id="221" name="Google Shape;221;p18"/>
          <p:cNvSpPr txBox="1"/>
          <p:nvPr/>
        </p:nvSpPr>
        <p:spPr>
          <a:xfrm>
            <a:off x="1181100" y="3704034"/>
            <a:ext cx="1143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22" name="Google Shape;222;p18"/>
          <p:cNvSpPr txBox="1"/>
          <p:nvPr/>
        </p:nvSpPr>
        <p:spPr>
          <a:xfrm>
            <a:off x="1295400" y="3704034"/>
            <a:ext cx="44196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Lektion: Datenblatt-Validierung VOR Bestellung.</a:t>
            </a:r>
            <a:endParaRPr/>
          </a:p>
        </p:txBody>
      </p:sp>
      <p:sp>
        <p:nvSpPr>
          <p:cNvPr id="223" name="Google Shape;223;p18"/>
          <p:cNvSpPr txBox="1"/>
          <p:nvPr/>
        </p:nvSpPr>
        <p:spPr>
          <a:xfrm>
            <a:off x="1181100" y="3970734"/>
            <a:ext cx="1143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24" name="Google Shape;224;p18"/>
          <p:cNvSpPr txBox="1"/>
          <p:nvPr/>
        </p:nvSpPr>
        <p:spPr>
          <a:xfrm>
            <a:off x="1295400" y="3970734"/>
            <a:ext cx="44196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R20 fehlte in V1 (Entlade-Risiko).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9" name="Google Shape;22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0" name="Google Shape;230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750" y="2564159"/>
            <a:ext cx="3429000" cy="15296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1" name="Google Shape;23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81500" y="2564159"/>
            <a:ext cx="3429000" cy="15296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2" name="Google Shape;23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96250" y="2564159"/>
            <a:ext cx="3429000" cy="1529655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19"/>
          <p:cNvSpPr txBox="1"/>
          <p:nvPr/>
        </p:nvSpPr>
        <p:spPr>
          <a:xfrm>
            <a:off x="1162050" y="476250"/>
            <a:ext cx="10881360" cy="542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V2 – Systematische Korrektur</a:t>
            </a:r>
            <a:endParaRPr/>
          </a:p>
        </p:txBody>
      </p:sp>
      <p:sp>
        <p:nvSpPr>
          <p:cNvPr id="234" name="Google Shape;234;p19"/>
          <p:cNvSpPr/>
          <p:nvPr/>
        </p:nvSpPr>
        <p:spPr>
          <a:xfrm>
            <a:off x="666750" y="1019175"/>
            <a:ext cx="44672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35" name="Google Shape;235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6750" y="595312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19"/>
          <p:cNvSpPr txBox="1"/>
          <p:nvPr/>
        </p:nvSpPr>
        <p:spPr>
          <a:xfrm>
            <a:off x="666750" y="4474815"/>
            <a:ext cx="10858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✓ DRC = 0 Fehler · Optimierte Masseflächen (Groundplane)</a:t>
            </a:r>
            <a:endParaRPr/>
          </a:p>
        </p:txBody>
      </p:sp>
      <p:sp>
        <p:nvSpPr>
          <p:cNvPr id="237" name="Google Shape;237;p19"/>
          <p:cNvSpPr txBox="1"/>
          <p:nvPr/>
        </p:nvSpPr>
        <p:spPr>
          <a:xfrm>
            <a:off x="914400" y="2754659"/>
            <a:ext cx="3140392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476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05966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MCU FIX</a:t>
            </a:r>
            <a:endParaRPr/>
          </a:p>
        </p:txBody>
      </p:sp>
      <p:sp>
        <p:nvSpPr>
          <p:cNvPr id="238" name="Google Shape;238;p19"/>
          <p:cNvSpPr txBox="1"/>
          <p:nvPr/>
        </p:nvSpPr>
        <p:spPr>
          <a:xfrm>
            <a:off x="914400" y="3288059"/>
            <a:ext cx="2990850" cy="453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Korrektes TQFP-32 Footprint &amp; Symbol. Komplette Neu-Konstruktion des Routings.</a:t>
            </a:r>
            <a:endParaRPr/>
          </a:p>
        </p:txBody>
      </p:sp>
      <p:sp>
        <p:nvSpPr>
          <p:cNvPr id="239" name="Google Shape;239;p19"/>
          <p:cNvSpPr txBox="1"/>
          <p:nvPr/>
        </p:nvSpPr>
        <p:spPr>
          <a:xfrm>
            <a:off x="4629150" y="2754659"/>
            <a:ext cx="3140392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476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05966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SICHERHEIT</a:t>
            </a:r>
            <a:endParaRPr/>
          </a:p>
        </p:txBody>
      </p:sp>
      <p:sp>
        <p:nvSpPr>
          <p:cNvPr id="240" name="Google Shape;240;p19"/>
          <p:cNvSpPr txBox="1"/>
          <p:nvPr/>
        </p:nvSpPr>
        <p:spPr>
          <a:xfrm>
            <a:off x="4629150" y="3288059"/>
            <a:ext cx="2990850" cy="453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R20 (470 Ω) integriert. Schützt NMOS Q2 vor Entlade-Stromspitzen.</a:t>
            </a:r>
            <a:endParaRPr/>
          </a:p>
        </p:txBody>
      </p:sp>
      <p:sp>
        <p:nvSpPr>
          <p:cNvPr id="241" name="Google Shape;241;p19"/>
          <p:cNvSpPr txBox="1"/>
          <p:nvPr/>
        </p:nvSpPr>
        <p:spPr>
          <a:xfrm>
            <a:off x="8343900" y="2754659"/>
            <a:ext cx="3140392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143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05966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GATE-BIAS</a:t>
            </a:r>
            <a:endParaRPr/>
          </a:p>
        </p:txBody>
      </p:sp>
      <p:sp>
        <p:nvSpPr>
          <p:cNvPr id="242" name="Google Shape;242;p19"/>
          <p:cNvSpPr txBox="1"/>
          <p:nvPr/>
        </p:nvSpPr>
        <p:spPr>
          <a:xfrm>
            <a:off x="8343900" y="3288059"/>
            <a:ext cx="2990850" cy="453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Optimierung PMOS Gate-Teiler auf 1M/100k für stabiles VGS (-4,5V).</a:t>
            </a:r>
            <a:endParaRPr/>
          </a:p>
        </p:txBody>
      </p:sp>
      <p:pic>
        <p:nvPicPr>
          <p:cNvPr descr="image.png" id="243" name="Google Shape;243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14400" y="2811809"/>
            <a:ext cx="2476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4" name="Google Shape;244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29150" y="2811809"/>
            <a:ext cx="2476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5" name="Google Shape;245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343900" y="2811809"/>
            <a:ext cx="314325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0" name="Google Shape;25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1" name="Google Shape;251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750" y="1604962"/>
            <a:ext cx="523875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0"/>
          <p:cNvSpPr txBox="1"/>
          <p:nvPr/>
        </p:nvSpPr>
        <p:spPr>
          <a:xfrm>
            <a:off x="857250" y="476250"/>
            <a:ext cx="11201400" cy="542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Durchführung &amp; Bestückung</a:t>
            </a:r>
            <a:endParaRPr/>
          </a:p>
        </p:txBody>
      </p:sp>
      <p:sp>
        <p:nvSpPr>
          <p:cNvPr id="253" name="Google Shape;253;p20"/>
          <p:cNvSpPr/>
          <p:nvPr/>
        </p:nvSpPr>
        <p:spPr>
          <a:xfrm>
            <a:off x="666750" y="1019175"/>
            <a:ext cx="50387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0"/>
          <p:cNvSpPr txBox="1"/>
          <p:nvPr/>
        </p:nvSpPr>
        <p:spPr>
          <a:xfrm>
            <a:off x="6286500" y="1604962"/>
            <a:ext cx="5500687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05966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Fertigungs-Fakten</a:t>
            </a:r>
            <a:endParaRPr/>
          </a:p>
        </p:txBody>
      </p:sp>
      <p:sp>
        <p:nvSpPr>
          <p:cNvPr id="255" name="Google Shape;255;p20"/>
          <p:cNvSpPr txBox="1"/>
          <p:nvPr/>
        </p:nvSpPr>
        <p:spPr>
          <a:xfrm>
            <a:off x="6362700" y="2147887"/>
            <a:ext cx="1143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56" name="Google Shape;256;p20"/>
          <p:cNvSpPr txBox="1"/>
          <p:nvPr/>
        </p:nvSpPr>
        <p:spPr>
          <a:xfrm>
            <a:off x="6477000" y="2147887"/>
            <a:ext cx="50482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IPC-A-610 Klasse 2: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Industrieller Standard für Bestückungsqualität.</a:t>
            </a:r>
            <a:endParaRPr/>
          </a:p>
        </p:txBody>
      </p:sp>
      <p:sp>
        <p:nvSpPr>
          <p:cNvPr id="257" name="Google Shape;257;p20"/>
          <p:cNvSpPr txBox="1"/>
          <p:nvPr/>
        </p:nvSpPr>
        <p:spPr>
          <a:xfrm>
            <a:off x="6362700" y="2681287"/>
            <a:ext cx="1143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58" name="Google Shape;258;p20"/>
          <p:cNvSpPr txBox="1"/>
          <p:nvPr/>
        </p:nvSpPr>
        <p:spPr>
          <a:xfrm>
            <a:off x="6477000" y="2681287"/>
            <a:ext cx="50482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SMD-Technik: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Handlötung bei 375 °C; Fokus auf 0,8 mm Pin-Pitch des TQFP-32.</a:t>
            </a:r>
            <a:endParaRPr/>
          </a:p>
        </p:txBody>
      </p:sp>
      <p:sp>
        <p:nvSpPr>
          <p:cNvPr id="259" name="Google Shape;259;p20"/>
          <p:cNvSpPr txBox="1"/>
          <p:nvPr/>
        </p:nvSpPr>
        <p:spPr>
          <a:xfrm>
            <a:off x="6362700" y="3214687"/>
            <a:ext cx="1143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60" name="Google Shape;260;p20"/>
          <p:cNvSpPr txBox="1"/>
          <p:nvPr/>
        </p:nvSpPr>
        <p:spPr>
          <a:xfrm>
            <a:off x="6477000" y="3214687"/>
            <a:ext cx="50482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Reihenfolge: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Passiv (0805) → ICs → THT-Komponenten.</a:t>
            </a:r>
            <a:endParaRPr/>
          </a:p>
        </p:txBody>
      </p:sp>
      <p:sp>
        <p:nvSpPr>
          <p:cNvPr id="261" name="Google Shape;261;p20"/>
          <p:cNvSpPr txBox="1"/>
          <p:nvPr/>
        </p:nvSpPr>
        <p:spPr>
          <a:xfrm>
            <a:off x="6362700" y="3481387"/>
            <a:ext cx="1143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62" name="Google Shape;262;p20"/>
          <p:cNvSpPr txBox="1"/>
          <p:nvPr/>
        </p:nvSpPr>
        <p:spPr>
          <a:xfrm>
            <a:off x="6477000" y="3481387"/>
            <a:ext cx="50482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QC: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Sichtprüfung unter Lupe/Mikroskop auf Brücken &amp; Kaltlötstellen.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7" name="Google Shape;26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8" name="Google Shape;268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750" y="4226421"/>
            <a:ext cx="10858500" cy="8362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9" name="Google Shape;269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6750" y="2652563"/>
            <a:ext cx="5357812" cy="14309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0" name="Google Shape;270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67437" y="2652563"/>
            <a:ext cx="5357812" cy="1430982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1"/>
          <p:cNvSpPr txBox="1"/>
          <p:nvPr/>
        </p:nvSpPr>
        <p:spPr>
          <a:xfrm>
            <a:off x="1238250" y="476250"/>
            <a:ext cx="108013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Firmware-Highlights (v3.5)</a:t>
            </a:r>
            <a:endParaRPr/>
          </a:p>
        </p:txBody>
      </p:sp>
      <p:sp>
        <p:nvSpPr>
          <p:cNvPr id="272" name="Google Shape;272;p21"/>
          <p:cNvSpPr/>
          <p:nvPr/>
        </p:nvSpPr>
        <p:spPr>
          <a:xfrm>
            <a:off x="666750" y="1019175"/>
            <a:ext cx="48196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73" name="Google Shape;273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6750" y="595312"/>
            <a:ext cx="3810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1"/>
          <p:cNvSpPr txBox="1"/>
          <p:nvPr/>
        </p:nvSpPr>
        <p:spPr>
          <a:xfrm>
            <a:off x="866775" y="4531221"/>
            <a:ext cx="10515600" cy="226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Kino-Timing:</a:t>
            </a:r>
            <a:r>
              <a:rPr b="0" i="0" lang="en-US" sz="12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Flackerfreie UI-Animation, dynamisch angepasst an die Ladekurve (220 ms - 450 ms) für authentisches Benutzerfeedback.</a:t>
            </a:r>
            <a:endParaRPr/>
          </a:p>
        </p:txBody>
      </p:sp>
      <p:sp>
        <p:nvSpPr>
          <p:cNvPr id="275" name="Google Shape;275;p21"/>
          <p:cNvSpPr txBox="1"/>
          <p:nvPr/>
        </p:nvSpPr>
        <p:spPr>
          <a:xfrm>
            <a:off x="666750" y="2433488"/>
            <a:ext cx="5357812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0B981"/>
                </a:solidFill>
                <a:latin typeface="Lato"/>
                <a:ea typeface="Lato"/>
                <a:cs typeface="Lato"/>
                <a:sym typeface="Lato"/>
              </a:rPr>
              <a:t>2-AUS-3 PLAUSIBILITÄTSFILTER</a:t>
            </a:r>
            <a:endParaRPr/>
          </a:p>
        </p:txBody>
      </p:sp>
      <p:sp>
        <p:nvSpPr>
          <p:cNvPr id="276" name="Google Shape;276;p21"/>
          <p:cNvSpPr txBox="1"/>
          <p:nvPr/>
        </p:nvSpPr>
        <p:spPr>
          <a:xfrm>
            <a:off x="6167437" y="2433488"/>
            <a:ext cx="5357812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0B981"/>
                </a:solidFill>
                <a:latin typeface="Lato"/>
                <a:ea typeface="Lato"/>
                <a:cs typeface="Lato"/>
                <a:sym typeface="Lato"/>
              </a:rPr>
              <a:t>PRÄZISES HARDWARE-POLLING</a:t>
            </a:r>
            <a:endParaRPr/>
          </a:p>
        </p:txBody>
      </p:sp>
      <p:sp>
        <p:nvSpPr>
          <p:cNvPr id="277" name="Google Shape;277;p21"/>
          <p:cNvSpPr txBox="1"/>
          <p:nvPr/>
        </p:nvSpPr>
        <p:spPr>
          <a:xfrm>
            <a:off x="819150" y="2804963"/>
            <a:ext cx="6096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8BDF8"/>
                </a:solidFill>
                <a:latin typeface="Azeret Mono"/>
                <a:ea typeface="Azeret Mono"/>
                <a:cs typeface="Azeret Mono"/>
                <a:sym typeface="Azeret Mono"/>
              </a:rPr>
              <a:t>uint32_t</a:t>
            </a:r>
            <a:endParaRPr/>
          </a:p>
        </p:txBody>
      </p:sp>
      <p:sp>
        <p:nvSpPr>
          <p:cNvPr id="278" name="Google Shape;278;p21"/>
          <p:cNvSpPr txBox="1"/>
          <p:nvPr/>
        </p:nvSpPr>
        <p:spPr>
          <a:xfrm>
            <a:off x="2190750" y="2804963"/>
            <a:ext cx="6096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8BDF8"/>
                </a:solidFill>
                <a:latin typeface="Azeret Mono"/>
                <a:ea typeface="Azeret Mono"/>
                <a:cs typeface="Azeret Mono"/>
                <a:sym typeface="Azeret Mono"/>
              </a:rPr>
              <a:t>uint32_t</a:t>
            </a:r>
            <a:endParaRPr/>
          </a:p>
        </p:txBody>
      </p:sp>
      <p:sp>
        <p:nvSpPr>
          <p:cNvPr id="279" name="Google Shape;279;p21"/>
          <p:cNvSpPr txBox="1"/>
          <p:nvPr/>
        </p:nvSpPr>
        <p:spPr>
          <a:xfrm>
            <a:off x="971550" y="3126730"/>
            <a:ext cx="20574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Azeret Mono"/>
                <a:ea typeface="Azeret Mono"/>
                <a:cs typeface="Azeret Mono"/>
                <a:sym typeface="Azeret Mono"/>
              </a:rPr>
              <a:t>// Filtert Ausreißer (±15%)</a:t>
            </a:r>
            <a:endParaRPr/>
          </a:p>
        </p:txBody>
      </p:sp>
      <p:sp>
        <p:nvSpPr>
          <p:cNvPr id="280" name="Google Shape;280;p21"/>
          <p:cNvSpPr txBox="1"/>
          <p:nvPr/>
        </p:nvSpPr>
        <p:spPr>
          <a:xfrm>
            <a:off x="971550" y="3287613"/>
            <a:ext cx="1524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8BDF8"/>
                </a:solidFill>
                <a:latin typeface="Azeret Mono"/>
                <a:ea typeface="Azeret Mono"/>
                <a:cs typeface="Azeret Mono"/>
                <a:sym typeface="Azeret Mono"/>
              </a:rPr>
              <a:t>if</a:t>
            </a:r>
            <a:endParaRPr/>
          </a:p>
        </p:txBody>
      </p:sp>
      <p:sp>
        <p:nvSpPr>
          <p:cNvPr id="281" name="Google Shape;281;p21"/>
          <p:cNvSpPr txBox="1"/>
          <p:nvPr/>
        </p:nvSpPr>
        <p:spPr>
          <a:xfrm>
            <a:off x="2724150" y="3287613"/>
            <a:ext cx="4572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8BDF8"/>
                </a:solidFill>
                <a:latin typeface="Azeret Mono"/>
                <a:ea typeface="Azeret Mono"/>
                <a:cs typeface="Azeret Mono"/>
                <a:sym typeface="Azeret Mono"/>
              </a:rPr>
              <a:t>return</a:t>
            </a:r>
            <a:endParaRPr/>
          </a:p>
        </p:txBody>
      </p:sp>
      <p:sp>
        <p:nvSpPr>
          <p:cNvPr id="282" name="Google Shape;282;p21"/>
          <p:cNvSpPr txBox="1"/>
          <p:nvPr/>
        </p:nvSpPr>
        <p:spPr>
          <a:xfrm>
            <a:off x="971550" y="3448496"/>
            <a:ext cx="1524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8BDF8"/>
                </a:solidFill>
                <a:latin typeface="Azeret Mono"/>
                <a:ea typeface="Azeret Mono"/>
                <a:cs typeface="Azeret Mono"/>
                <a:sym typeface="Azeret Mono"/>
              </a:rPr>
              <a:t>if</a:t>
            </a:r>
            <a:endParaRPr/>
          </a:p>
        </p:txBody>
      </p:sp>
      <p:sp>
        <p:nvSpPr>
          <p:cNvPr id="283" name="Google Shape;283;p21"/>
          <p:cNvSpPr txBox="1"/>
          <p:nvPr/>
        </p:nvSpPr>
        <p:spPr>
          <a:xfrm>
            <a:off x="1657350" y="3448496"/>
            <a:ext cx="4572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8BDF8"/>
                </a:solidFill>
                <a:latin typeface="Azeret Mono"/>
                <a:ea typeface="Azeret Mono"/>
                <a:cs typeface="Azeret Mono"/>
                <a:sym typeface="Azeret Mono"/>
              </a:rPr>
              <a:t>return</a:t>
            </a:r>
            <a:endParaRPr/>
          </a:p>
        </p:txBody>
      </p:sp>
      <p:sp>
        <p:nvSpPr>
          <p:cNvPr id="284" name="Google Shape;284;p21"/>
          <p:cNvSpPr txBox="1"/>
          <p:nvPr/>
        </p:nvSpPr>
        <p:spPr>
          <a:xfrm>
            <a:off x="971550" y="3609379"/>
            <a:ext cx="4572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8BDF8"/>
                </a:solidFill>
                <a:latin typeface="Azeret Mono"/>
                <a:ea typeface="Azeret Mono"/>
                <a:cs typeface="Azeret Mono"/>
                <a:sym typeface="Azeret Mono"/>
              </a:rPr>
              <a:t>return</a:t>
            </a:r>
            <a:endParaRPr/>
          </a:p>
        </p:txBody>
      </p:sp>
      <p:sp>
        <p:nvSpPr>
          <p:cNvPr id="285" name="Google Shape;285;p21"/>
          <p:cNvSpPr txBox="1"/>
          <p:nvPr/>
        </p:nvSpPr>
        <p:spPr>
          <a:xfrm>
            <a:off x="1733550" y="3609379"/>
            <a:ext cx="15240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Azeret Mono"/>
                <a:ea typeface="Azeret Mono"/>
                <a:cs typeface="Azeret Mono"/>
                <a:sym typeface="Azeret Mono"/>
              </a:rPr>
              <a:t>// FAIL bei Streuung</a:t>
            </a:r>
            <a:endParaRPr/>
          </a:p>
        </p:txBody>
      </p:sp>
      <p:sp>
        <p:nvSpPr>
          <p:cNvPr id="286" name="Google Shape;286;p21"/>
          <p:cNvSpPr txBox="1"/>
          <p:nvPr/>
        </p:nvSpPr>
        <p:spPr>
          <a:xfrm>
            <a:off x="6319837" y="2965846"/>
            <a:ext cx="1524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8BDF8"/>
                </a:solidFill>
                <a:latin typeface="Azeret Mono"/>
                <a:ea typeface="Azeret Mono"/>
                <a:cs typeface="Azeret Mono"/>
                <a:sym typeface="Azeret Mono"/>
              </a:rPr>
              <a:t>do</a:t>
            </a:r>
            <a:endParaRPr/>
          </a:p>
        </p:txBody>
      </p:sp>
      <p:sp>
        <p:nvSpPr>
          <p:cNvPr id="287" name="Google Shape;287;p21"/>
          <p:cNvSpPr txBox="1"/>
          <p:nvPr/>
        </p:nvSpPr>
        <p:spPr>
          <a:xfrm>
            <a:off x="6472237" y="3287613"/>
            <a:ext cx="1524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8BDF8"/>
                </a:solidFill>
                <a:latin typeface="Azeret Mono"/>
                <a:ea typeface="Azeret Mono"/>
                <a:cs typeface="Azeret Mono"/>
                <a:sym typeface="Azeret Mono"/>
              </a:rPr>
              <a:t>if</a:t>
            </a:r>
            <a:endParaRPr/>
          </a:p>
        </p:txBody>
      </p:sp>
      <p:sp>
        <p:nvSpPr>
          <p:cNvPr id="288" name="Google Shape;288;p21"/>
          <p:cNvSpPr txBox="1"/>
          <p:nvPr/>
        </p:nvSpPr>
        <p:spPr>
          <a:xfrm>
            <a:off x="7539037" y="3287613"/>
            <a:ext cx="3810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8BDF8"/>
                </a:solidFill>
                <a:latin typeface="Azeret Mono"/>
                <a:ea typeface="Azeret Mono"/>
                <a:cs typeface="Azeret Mono"/>
                <a:sym typeface="Azeret Mono"/>
              </a:rPr>
              <a:t>break</a:t>
            </a:r>
            <a:endParaRPr/>
          </a:p>
        </p:txBody>
      </p:sp>
      <p:sp>
        <p:nvSpPr>
          <p:cNvPr id="289" name="Google Shape;289;p21"/>
          <p:cNvSpPr txBox="1"/>
          <p:nvPr/>
        </p:nvSpPr>
        <p:spPr>
          <a:xfrm>
            <a:off x="6472237" y="3448496"/>
            <a:ext cx="3810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8BDF8"/>
                </a:solidFill>
                <a:latin typeface="Azeret Mono"/>
                <a:ea typeface="Azeret Mono"/>
                <a:cs typeface="Azeret Mono"/>
                <a:sym typeface="Azeret Mono"/>
              </a:rPr>
              <a:t>while</a:t>
            </a:r>
            <a:endParaRPr/>
          </a:p>
        </p:txBody>
      </p:sp>
      <p:sp>
        <p:nvSpPr>
          <p:cNvPr id="290" name="Google Shape;290;p21"/>
          <p:cNvSpPr txBox="1"/>
          <p:nvPr/>
        </p:nvSpPr>
        <p:spPr>
          <a:xfrm>
            <a:off x="6319837" y="3770262"/>
            <a:ext cx="21336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Azeret Mono"/>
                <a:ea typeface="Azeret Mono"/>
                <a:cs typeface="Azeret Mono"/>
                <a:sym typeface="Azeret Mono"/>
              </a:rPr>
              <a:t>// CPU Fokus auf Zeitmessung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5" name="Google Shape;29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6" name="Google Shape;296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750" y="4805362"/>
            <a:ext cx="53340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7" name="Google Shape;297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91250" y="4805362"/>
            <a:ext cx="53340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22"/>
          <p:cNvSpPr txBox="1"/>
          <p:nvPr/>
        </p:nvSpPr>
        <p:spPr>
          <a:xfrm>
            <a:off x="1162050" y="476250"/>
            <a:ext cx="10881360" cy="542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Messprotokoll &amp; Validierung</a:t>
            </a:r>
            <a:endParaRPr/>
          </a:p>
        </p:txBody>
      </p:sp>
      <p:sp>
        <p:nvSpPr>
          <p:cNvPr id="299" name="Google Shape;299;p22"/>
          <p:cNvSpPr/>
          <p:nvPr/>
        </p:nvSpPr>
        <p:spPr>
          <a:xfrm>
            <a:off x="666750" y="1019175"/>
            <a:ext cx="47434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00" name="Google Shape;300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6750" y="595312"/>
            <a:ext cx="304800" cy="3048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01" name="Google Shape;301;p22"/>
          <p:cNvGraphicFramePr/>
          <p:nvPr/>
        </p:nvGraphicFramePr>
        <p:xfrm>
          <a:off x="666750" y="177641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{CD240708-22BF-46FA-B4F5-5D2387F73AF8}</a:tableStyleId>
              </a:tblPr>
              <a:tblGrid>
                <a:gridCol w="2763875"/>
                <a:gridCol w="2949175"/>
                <a:gridCol w="2779225"/>
                <a:gridCol w="2347175"/>
              </a:tblGrid>
              <a:tr h="567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DUT (Nennwert)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Toleranz ±20%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Referenz (DMM)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KapTester V2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567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100 µF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80 – 120 µF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104,2 µF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[Daten] µF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67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1.000 µF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800 – 1.200 µF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985,0 µF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[Daten] µF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67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4.700 µF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3.760 – 5.640 µF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4.620,0 µF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[Daten] µF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67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10.000 µF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8.000 – 12.000 µF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9.450,0 µF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[Daten] µF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2" name="Google Shape;302;p22"/>
          <p:cNvSpPr/>
          <p:nvPr/>
        </p:nvSpPr>
        <p:spPr>
          <a:xfrm>
            <a:off x="676275" y="2338387"/>
            <a:ext cx="2763887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2"/>
          <p:cNvSpPr/>
          <p:nvPr/>
        </p:nvSpPr>
        <p:spPr>
          <a:xfrm>
            <a:off x="3440162" y="2338387"/>
            <a:ext cx="2949178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2"/>
          <p:cNvSpPr/>
          <p:nvPr/>
        </p:nvSpPr>
        <p:spPr>
          <a:xfrm>
            <a:off x="6389340" y="2338387"/>
            <a:ext cx="2779216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2"/>
          <p:cNvSpPr/>
          <p:nvPr/>
        </p:nvSpPr>
        <p:spPr>
          <a:xfrm>
            <a:off x="9168556" y="2338387"/>
            <a:ext cx="2347168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2"/>
          <p:cNvSpPr/>
          <p:nvPr/>
        </p:nvSpPr>
        <p:spPr>
          <a:xfrm>
            <a:off x="676275" y="2909887"/>
            <a:ext cx="2763887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2"/>
          <p:cNvSpPr/>
          <p:nvPr/>
        </p:nvSpPr>
        <p:spPr>
          <a:xfrm>
            <a:off x="3440162" y="2909887"/>
            <a:ext cx="2949178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2"/>
          <p:cNvSpPr/>
          <p:nvPr/>
        </p:nvSpPr>
        <p:spPr>
          <a:xfrm>
            <a:off x="6389340" y="2909887"/>
            <a:ext cx="2779216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2"/>
          <p:cNvSpPr/>
          <p:nvPr/>
        </p:nvSpPr>
        <p:spPr>
          <a:xfrm>
            <a:off x="9168556" y="2909887"/>
            <a:ext cx="2347168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2"/>
          <p:cNvSpPr/>
          <p:nvPr/>
        </p:nvSpPr>
        <p:spPr>
          <a:xfrm>
            <a:off x="676275" y="3471862"/>
            <a:ext cx="2763887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2"/>
          <p:cNvSpPr/>
          <p:nvPr/>
        </p:nvSpPr>
        <p:spPr>
          <a:xfrm>
            <a:off x="3440162" y="3471862"/>
            <a:ext cx="2949178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2"/>
          <p:cNvSpPr/>
          <p:nvPr/>
        </p:nvSpPr>
        <p:spPr>
          <a:xfrm>
            <a:off x="6389340" y="3471862"/>
            <a:ext cx="2779216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2"/>
          <p:cNvSpPr/>
          <p:nvPr/>
        </p:nvSpPr>
        <p:spPr>
          <a:xfrm>
            <a:off x="9168556" y="3471862"/>
            <a:ext cx="2347168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2"/>
          <p:cNvSpPr/>
          <p:nvPr/>
        </p:nvSpPr>
        <p:spPr>
          <a:xfrm>
            <a:off x="676275" y="4033837"/>
            <a:ext cx="2763887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2"/>
          <p:cNvSpPr/>
          <p:nvPr/>
        </p:nvSpPr>
        <p:spPr>
          <a:xfrm>
            <a:off x="3440162" y="4033837"/>
            <a:ext cx="2949178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2"/>
          <p:cNvSpPr/>
          <p:nvPr/>
        </p:nvSpPr>
        <p:spPr>
          <a:xfrm>
            <a:off x="6389340" y="4033837"/>
            <a:ext cx="2779216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2"/>
          <p:cNvSpPr/>
          <p:nvPr/>
        </p:nvSpPr>
        <p:spPr>
          <a:xfrm>
            <a:off x="9168556" y="4033837"/>
            <a:ext cx="2347168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2"/>
          <p:cNvSpPr/>
          <p:nvPr/>
        </p:nvSpPr>
        <p:spPr>
          <a:xfrm>
            <a:off x="676275" y="4595812"/>
            <a:ext cx="2763887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2"/>
          <p:cNvSpPr/>
          <p:nvPr/>
        </p:nvSpPr>
        <p:spPr>
          <a:xfrm>
            <a:off x="3440162" y="4595812"/>
            <a:ext cx="2949178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2"/>
          <p:cNvSpPr/>
          <p:nvPr/>
        </p:nvSpPr>
        <p:spPr>
          <a:xfrm>
            <a:off x="6389340" y="4595812"/>
            <a:ext cx="2779216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2"/>
          <p:cNvSpPr/>
          <p:nvPr/>
        </p:nvSpPr>
        <p:spPr>
          <a:xfrm>
            <a:off x="9168556" y="4595812"/>
            <a:ext cx="2347168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2"/>
          <p:cNvSpPr txBox="1"/>
          <p:nvPr/>
        </p:nvSpPr>
        <p:spPr>
          <a:xfrm>
            <a:off x="838200" y="5062537"/>
            <a:ext cx="50482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Testpunkte (JTP):</a:t>
            </a:r>
            <a:r>
              <a:rPr b="0" i="0" lang="en-US" sz="11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USB: 5,05V; LM317: 4,45V; ADC: 1,1V linear.</a:t>
            </a:r>
            <a:endParaRPr/>
          </a:p>
        </p:txBody>
      </p:sp>
      <p:sp>
        <p:nvSpPr>
          <p:cNvPr id="323" name="Google Shape;323;p22"/>
          <p:cNvSpPr txBox="1"/>
          <p:nvPr/>
        </p:nvSpPr>
        <p:spPr>
          <a:xfrm>
            <a:off x="6362700" y="5062537"/>
            <a:ext cx="50482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Validierung:</a:t>
            </a:r>
            <a:r>
              <a:rPr b="0" i="0" lang="en-US" sz="11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Deterministische Messung &amp; automatischer Entladepfad erfolgreich.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28" name="Google Shape;32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9" name="Google Shape;329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750" y="2595562"/>
            <a:ext cx="5238750" cy="2305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0" name="Google Shape;330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595562"/>
            <a:ext cx="5238750" cy="230505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23"/>
          <p:cNvSpPr txBox="1"/>
          <p:nvPr/>
        </p:nvSpPr>
        <p:spPr>
          <a:xfrm>
            <a:off x="1238250" y="476250"/>
            <a:ext cx="108013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Fazit &amp; Selbstreflexion</a:t>
            </a:r>
            <a:endParaRPr/>
          </a:p>
        </p:txBody>
      </p:sp>
      <p:sp>
        <p:nvSpPr>
          <p:cNvPr id="332" name="Google Shape;332;p23"/>
          <p:cNvSpPr/>
          <p:nvPr/>
        </p:nvSpPr>
        <p:spPr>
          <a:xfrm>
            <a:off x="666750" y="1019175"/>
            <a:ext cx="58483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33" name="Google Shape;333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6750" y="595312"/>
            <a:ext cx="3810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23"/>
          <p:cNvSpPr txBox="1"/>
          <p:nvPr/>
        </p:nvSpPr>
        <p:spPr>
          <a:xfrm>
            <a:off x="885825" y="2776537"/>
            <a:ext cx="508063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Learnings</a:t>
            </a:r>
            <a:endParaRPr/>
          </a:p>
        </p:txBody>
      </p:sp>
      <p:sp>
        <p:nvSpPr>
          <p:cNvPr id="335" name="Google Shape;335;p23"/>
          <p:cNvSpPr txBox="1"/>
          <p:nvPr/>
        </p:nvSpPr>
        <p:spPr>
          <a:xfrm>
            <a:off x="6505575" y="2776537"/>
            <a:ext cx="508063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Reflexion</a:t>
            </a:r>
            <a:endParaRPr/>
          </a:p>
        </p:txBody>
      </p:sp>
      <p:sp>
        <p:nvSpPr>
          <p:cNvPr id="336" name="Google Shape;336;p23"/>
          <p:cNvSpPr txBox="1"/>
          <p:nvPr/>
        </p:nvSpPr>
        <p:spPr>
          <a:xfrm>
            <a:off x="962025" y="3490912"/>
            <a:ext cx="1143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37" name="Google Shape;337;p23"/>
          <p:cNvSpPr txBox="1"/>
          <p:nvPr/>
        </p:nvSpPr>
        <p:spPr>
          <a:xfrm>
            <a:off x="1076325" y="3490912"/>
            <a:ext cx="46482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KiCad: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Routing &amp; Footprint-Validierung.</a:t>
            </a:r>
            <a:endParaRPr/>
          </a:p>
        </p:txBody>
      </p:sp>
      <p:sp>
        <p:nvSpPr>
          <p:cNvPr id="338" name="Google Shape;338;p23"/>
          <p:cNvSpPr txBox="1"/>
          <p:nvPr/>
        </p:nvSpPr>
        <p:spPr>
          <a:xfrm>
            <a:off x="962025" y="3757612"/>
            <a:ext cx="1143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39" name="Google Shape;339;p23"/>
          <p:cNvSpPr txBox="1"/>
          <p:nvPr/>
        </p:nvSpPr>
        <p:spPr>
          <a:xfrm>
            <a:off x="1076325" y="3757612"/>
            <a:ext cx="46482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SMD: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Handhabung TQFP-32 &amp; 0805.</a:t>
            </a:r>
            <a:endParaRPr/>
          </a:p>
        </p:txBody>
      </p:sp>
      <p:sp>
        <p:nvSpPr>
          <p:cNvPr id="340" name="Google Shape;340;p23"/>
          <p:cNvSpPr txBox="1"/>
          <p:nvPr/>
        </p:nvSpPr>
        <p:spPr>
          <a:xfrm>
            <a:off x="962025" y="4024312"/>
            <a:ext cx="1143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41" name="Google Shape;341;p23"/>
          <p:cNvSpPr txBox="1"/>
          <p:nvPr/>
        </p:nvSpPr>
        <p:spPr>
          <a:xfrm>
            <a:off x="1076325" y="4024312"/>
            <a:ext cx="46482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Embedded: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ATmega Timer, ISR &amp; ADC.</a:t>
            </a:r>
            <a:endParaRPr/>
          </a:p>
        </p:txBody>
      </p:sp>
      <p:sp>
        <p:nvSpPr>
          <p:cNvPr id="342" name="Google Shape;342;p23"/>
          <p:cNvSpPr txBox="1"/>
          <p:nvPr/>
        </p:nvSpPr>
        <p:spPr>
          <a:xfrm>
            <a:off x="962025" y="4291012"/>
            <a:ext cx="1143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43" name="Google Shape;343;p23"/>
          <p:cNvSpPr txBox="1"/>
          <p:nvPr/>
        </p:nvSpPr>
        <p:spPr>
          <a:xfrm>
            <a:off x="1076325" y="4291012"/>
            <a:ext cx="46482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Coding: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C-Systemdesign (Modularität).</a:t>
            </a:r>
            <a:endParaRPr/>
          </a:p>
        </p:txBody>
      </p:sp>
      <p:sp>
        <p:nvSpPr>
          <p:cNvPr id="344" name="Google Shape;344;p23"/>
          <p:cNvSpPr txBox="1"/>
          <p:nvPr/>
        </p:nvSpPr>
        <p:spPr>
          <a:xfrm>
            <a:off x="6581775" y="3224212"/>
            <a:ext cx="1143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45" name="Google Shape;345;p23"/>
          <p:cNvSpPr txBox="1"/>
          <p:nvPr/>
        </p:nvSpPr>
        <p:spPr>
          <a:xfrm>
            <a:off x="6696075" y="3224212"/>
            <a:ext cx="46482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Prototyping: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V1→V2 Iteration lehrreich.</a:t>
            </a:r>
            <a:endParaRPr/>
          </a:p>
        </p:txBody>
      </p:sp>
      <p:sp>
        <p:nvSpPr>
          <p:cNvPr id="346" name="Google Shape;346;p23"/>
          <p:cNvSpPr txBox="1"/>
          <p:nvPr/>
        </p:nvSpPr>
        <p:spPr>
          <a:xfrm>
            <a:off x="6581775" y="3490912"/>
            <a:ext cx="1143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47" name="Google Shape;347;p23"/>
          <p:cNvSpPr txBox="1"/>
          <p:nvPr/>
        </p:nvSpPr>
        <p:spPr>
          <a:xfrm>
            <a:off x="6696075" y="3490912"/>
            <a:ext cx="46482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Qualität: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Firmware-Filterung steigert Hardware-Präzision massiv.</a:t>
            </a:r>
            <a:endParaRPr/>
          </a:p>
        </p:txBody>
      </p:sp>
      <p:sp>
        <p:nvSpPr>
          <p:cNvPr id="348" name="Google Shape;348;p23"/>
          <p:cNvSpPr txBox="1"/>
          <p:nvPr/>
        </p:nvSpPr>
        <p:spPr>
          <a:xfrm>
            <a:off x="6581775" y="4024312"/>
            <a:ext cx="1143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49" name="Google Shape;349;p23"/>
          <p:cNvSpPr txBox="1"/>
          <p:nvPr/>
        </p:nvSpPr>
        <p:spPr>
          <a:xfrm>
            <a:off x="6696075" y="4024312"/>
            <a:ext cx="46482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Ausblick: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Gehäusebau (3D-Druck) &amp; ESR-Messung als V3 Erweiterung.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54" name="Google Shape;35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5" name="Google Shape;355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750" y="3831877"/>
            <a:ext cx="10858500" cy="1861095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24"/>
          <p:cNvSpPr txBox="1"/>
          <p:nvPr/>
        </p:nvSpPr>
        <p:spPr>
          <a:xfrm>
            <a:off x="395287" y="974377"/>
            <a:ext cx="11401425" cy="1076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625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Vielen Dank!</a:t>
            </a:r>
            <a:endParaRPr/>
          </a:p>
        </p:txBody>
      </p:sp>
      <p:sp>
        <p:nvSpPr>
          <p:cNvPr id="357" name="Google Shape;357;p24"/>
          <p:cNvSpPr txBox="1"/>
          <p:nvPr/>
        </p:nvSpPr>
        <p:spPr>
          <a:xfrm>
            <a:off x="666750" y="2384077"/>
            <a:ext cx="10858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Haben Sie noch Fragen zum KapTester V2?</a:t>
            </a:r>
            <a:endParaRPr/>
          </a:p>
        </p:txBody>
      </p:sp>
      <p:sp>
        <p:nvSpPr>
          <p:cNvPr id="358" name="Google Shape;358;p24"/>
          <p:cNvSpPr txBox="1"/>
          <p:nvPr/>
        </p:nvSpPr>
        <p:spPr>
          <a:xfrm>
            <a:off x="666750" y="4412902"/>
            <a:ext cx="10858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Nico Schmidt</a:t>
            </a:r>
            <a:endParaRPr/>
          </a:p>
        </p:txBody>
      </p:sp>
      <p:sp>
        <p:nvSpPr>
          <p:cNvPr id="359" name="Google Shape;359;p24"/>
          <p:cNvSpPr txBox="1"/>
          <p:nvPr/>
        </p:nvSpPr>
        <p:spPr>
          <a:xfrm>
            <a:off x="666750" y="4870102"/>
            <a:ext cx="10858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GBS TEMPEST und Service GmbH</a:t>
            </a:r>
            <a:endParaRPr/>
          </a:p>
        </p:txBody>
      </p:sp>
      <p:sp>
        <p:nvSpPr>
          <p:cNvPr id="360" name="Google Shape;360;p24"/>
          <p:cNvSpPr txBox="1"/>
          <p:nvPr/>
        </p:nvSpPr>
        <p:spPr>
          <a:xfrm>
            <a:off x="666750" y="5327302"/>
            <a:ext cx="1085850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IHK Osnabrück · AP2 2026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65" name="Google Shape;36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6" name="Google Shape;366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750" y="1304925"/>
            <a:ext cx="5357812" cy="211648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7" name="Google Shape;367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67437" y="1304925"/>
            <a:ext cx="5357812" cy="211648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8" name="Google Shape;368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750" y="3564284"/>
            <a:ext cx="5357812" cy="211648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9" name="Google Shape;369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67437" y="3564284"/>
            <a:ext cx="5357812" cy="2116484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25"/>
          <p:cNvSpPr txBox="1"/>
          <p:nvPr/>
        </p:nvSpPr>
        <p:spPr>
          <a:xfrm>
            <a:off x="1162050" y="476250"/>
            <a:ext cx="10881360" cy="542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Technisches Datenblatt (Summary)</a:t>
            </a:r>
            <a:endParaRPr/>
          </a:p>
        </p:txBody>
      </p:sp>
      <p:sp>
        <p:nvSpPr>
          <p:cNvPr id="371" name="Google Shape;371;p25"/>
          <p:cNvSpPr/>
          <p:nvPr/>
        </p:nvSpPr>
        <p:spPr>
          <a:xfrm>
            <a:off x="666750" y="1019175"/>
            <a:ext cx="32956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72" name="Google Shape;372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6750" y="595312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25"/>
          <p:cNvSpPr txBox="1"/>
          <p:nvPr/>
        </p:nvSpPr>
        <p:spPr>
          <a:xfrm>
            <a:off x="666750" y="5871269"/>
            <a:ext cx="10858500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* Diese Folie dient als Referenz während der Fachdiskussion.</a:t>
            </a:r>
            <a:endParaRPr/>
          </a:p>
        </p:txBody>
      </p:sp>
      <p:sp>
        <p:nvSpPr>
          <p:cNvPr id="374" name="Google Shape;374;p25"/>
          <p:cNvSpPr txBox="1"/>
          <p:nvPr/>
        </p:nvSpPr>
        <p:spPr>
          <a:xfrm>
            <a:off x="914400" y="1495425"/>
            <a:ext cx="516564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Elektrische Parameter</a:t>
            </a:r>
            <a:endParaRPr/>
          </a:p>
        </p:txBody>
      </p:sp>
      <p:sp>
        <p:nvSpPr>
          <p:cNvPr id="375" name="Google Shape;375;p25"/>
          <p:cNvSpPr txBox="1"/>
          <p:nvPr/>
        </p:nvSpPr>
        <p:spPr>
          <a:xfrm>
            <a:off x="914400" y="1885950"/>
            <a:ext cx="4919662" cy="639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32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 Versorgung: 5V USB (+/- 5%)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• Ladestrom: 1,042 mA (LM317L)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• Ref-Spannung: 1,1 V (intern)</a:t>
            </a:r>
            <a:endParaRPr/>
          </a:p>
        </p:txBody>
      </p:sp>
      <p:sp>
        <p:nvSpPr>
          <p:cNvPr id="376" name="Google Shape;376;p25"/>
          <p:cNvSpPr txBox="1"/>
          <p:nvPr/>
        </p:nvSpPr>
        <p:spPr>
          <a:xfrm>
            <a:off x="6415087" y="1495425"/>
            <a:ext cx="516564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Mess-Spezifikation</a:t>
            </a:r>
            <a:endParaRPr/>
          </a:p>
        </p:txBody>
      </p:sp>
      <p:sp>
        <p:nvSpPr>
          <p:cNvPr id="377" name="Google Shape;377;p25"/>
          <p:cNvSpPr txBox="1"/>
          <p:nvPr/>
        </p:nvSpPr>
        <p:spPr>
          <a:xfrm>
            <a:off x="6415087" y="1885950"/>
            <a:ext cx="4919662" cy="639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32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 Bereich: 10 µF – 10.000 µF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• Toleranz: ±20% (bewusst konservativ)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• Auflösung: 16 µs pro Timer-Tick</a:t>
            </a:r>
            <a:endParaRPr/>
          </a:p>
        </p:txBody>
      </p:sp>
      <p:sp>
        <p:nvSpPr>
          <p:cNvPr id="378" name="Google Shape;378;p25"/>
          <p:cNvSpPr txBox="1"/>
          <p:nvPr/>
        </p:nvSpPr>
        <p:spPr>
          <a:xfrm>
            <a:off x="914400" y="3754784"/>
            <a:ext cx="516564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Hardware-Komponenten</a:t>
            </a:r>
            <a:endParaRPr/>
          </a:p>
        </p:txBody>
      </p:sp>
      <p:sp>
        <p:nvSpPr>
          <p:cNvPr id="379" name="Google Shape;379;p25"/>
          <p:cNvSpPr txBox="1"/>
          <p:nvPr/>
        </p:nvSpPr>
        <p:spPr>
          <a:xfrm>
            <a:off x="914400" y="4145309"/>
            <a:ext cx="4919662" cy="639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32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 MCU: ATmega328P (16 MHz Quarz)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• Schutz: PMOS IRLML6402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• Entladung: 2N7002 + 470 Ω</a:t>
            </a:r>
            <a:endParaRPr/>
          </a:p>
        </p:txBody>
      </p:sp>
      <p:sp>
        <p:nvSpPr>
          <p:cNvPr id="380" name="Google Shape;380;p25"/>
          <p:cNvSpPr txBox="1"/>
          <p:nvPr/>
        </p:nvSpPr>
        <p:spPr>
          <a:xfrm>
            <a:off x="6415087" y="3754784"/>
            <a:ext cx="516564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Software-Features</a:t>
            </a:r>
            <a:endParaRPr/>
          </a:p>
        </p:txBody>
      </p:sp>
      <p:sp>
        <p:nvSpPr>
          <p:cNvPr id="381" name="Google Shape;381;p25"/>
          <p:cNvSpPr txBox="1"/>
          <p:nvPr/>
        </p:nvSpPr>
        <p:spPr>
          <a:xfrm>
            <a:off x="6415087" y="4145309"/>
            <a:ext cx="4919662" cy="639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32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 2-aus-3 Plausibilitätsfilter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• HW-Polling für Zeitpräzision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• Dynamisches Kino-Timing (UI)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