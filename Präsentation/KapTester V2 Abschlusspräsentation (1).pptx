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embeddedFontLst>
    <p:embeddedFont>
      <p:font typeface="Azeret Mono"/>
      <p:regular r:id="rId16"/>
      <p:bold r:id="rId17"/>
      <p:italic r:id="rId18"/>
      <p:boldItalic r:id="rId19"/>
    </p:embeddedFont>
    <p:embeddedFont>
      <p:font typeface="Poppins SemiBold"/>
    </p:embeddedFont>
    <p:embeddedFont>
      <p:font typeface="Lato"/>
      <p:regular r:id="rId20"/>
      <p:bold r:id="rId21"/>
      <p:italic r:id="rId22"/>
    </p:embeddedFont>
    <p:embeddedFont>
      <p:font typeface="Poppins"/>
      <p:regular r:id="rId23"/>
      <p:bold r:id="rId24"/>
      <p:boldItalic r:id="rId25"/>
    </p:embeddedFont>
    <p:embeddedFont>
      <p:font typeface="Microsoft YaHei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font" Target="fonts/Font_1_Azeret_Mono_Regular.fntdata"/><Relationship Id="rId17" Type="http://schemas.openxmlformats.org/officeDocument/2006/relationships/font" Target="fonts/Font_2_Azeret_Mono_Bold.fntdata"/><Relationship Id="rId18" Type="http://schemas.openxmlformats.org/officeDocument/2006/relationships/font" Target="fonts/Font_3_Azeret_Mono_Italic.fntdata"/><Relationship Id="rId19" Type="http://schemas.openxmlformats.org/officeDocument/2006/relationships/font" Target="fonts/Font_4_Azeret_Mono_BoldItalic.fntdata"/><Relationship Id="rId20" Type="http://schemas.openxmlformats.org/officeDocument/2006/relationships/font" Target="fonts/Font_5_Lato_Regular.fntdata"/><Relationship Id="rId21" Type="http://schemas.openxmlformats.org/officeDocument/2006/relationships/font" Target="fonts/Font_6_Lato_Bold.fntdata"/><Relationship Id="rId22" Type="http://schemas.openxmlformats.org/officeDocument/2006/relationships/font" Target="fonts/Font_7_Lato_Italic.fntdata"/><Relationship Id="rId23" Type="http://schemas.openxmlformats.org/officeDocument/2006/relationships/font" Target="fonts/Font_8_Poppins_Regular.fntdata"/><Relationship Id="rId24" Type="http://schemas.openxmlformats.org/officeDocument/2006/relationships/font" Target="fonts/Font_9_Poppins_Bold.fntdata"/><Relationship Id="rId25" Type="http://schemas.openxmlformats.org/officeDocument/2006/relationships/font" Target="fonts/Font_10_Poppins_BoldItalic.fntdata"/><Relationship Id="rId2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DB75182-9D25-45AC-AABE-FE6029BE564E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11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des Titeltextes durch Klicken bearbeiten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des Gliederungstextes durch Klicken bearbeiten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Zweite Gliederungsebene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Dritte Gliederungsebene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Vierte Gliederungsebene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Fünfte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Sechste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Siebte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5000" lnSpcReduction="9999"/>
          </a:bodyPr>
          <a:p>
            <a:pPr indent="0">
              <a:buNone/>
            </a:pP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des Titeltextes durch Klicken bearbeiten</a:t>
            </a:r>
            <a:endParaRPr lang="de-DE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 rot="5400000">
            <a:off x="2309400" y="-251640"/>
            <a:ext cx="4525560" cy="8229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des Gliederungstextes durch Klicken bearbeiten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Zweite Gliederungsebene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Dritte Gliederungsebene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Vierte Gliederungsebene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Fünfte Gliederungsebene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Sechste Gliederungsebene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Siebte Gliederungsebene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D2B9D96-36C7-4481-8776-F302CCF85938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_TITLE_AND_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 rot="5400000">
            <a:off x="4732560" y="2171520"/>
            <a:ext cx="5851080" cy="205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des Titeltextes durch Klicken bearbeiten</a:t>
            </a:r>
            <a:endParaRPr lang="de-DE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 rot="5400000">
            <a:off x="541800" y="190080"/>
            <a:ext cx="5851080" cy="6019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des Gliederungstextes durch Klicken bearbeiten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Zweite Gliederungsebene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Dritte Gliederungsebene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Vierte Gliederungsebene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Fünfte Gliederungsebene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Sechste Gliederungsebene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Siebte Gliederungsebene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5992341-E89A-4654-AC3C-1F250AF80287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des Titeltextes durch Klicken bearbeiten</a:t>
            </a:r>
            <a:endParaRPr lang="de-DE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EF3D9E1-0A58-4D8F-B340-E52F5E49374E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5000" lnSpcReduction="9999"/>
          </a:bodyPr>
          <a:p>
            <a:pPr indent="0">
              <a:buNone/>
            </a:pP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des Titeltextes durch Klicken bearbeiten</a:t>
            </a:r>
            <a:endParaRPr lang="de-DE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des Gliederungstextes durch Klicken bearbeiten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Zweite Gliederungsebene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Dritte Gliederungsebene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Vierte Gliederungsebene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Fünfte Gliederungsebene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Sechste Gliederungsebene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Siebte Gliederungsebene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3F64A3B-62E3-454A-A56F-EC1D5642A60B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buNone/>
            </a:pPr>
            <a:r>
              <a:rPr lang="de-DE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des Titeltextes durch Klicken bearbeiten</a:t>
            </a:r>
            <a:endParaRPr lang="de-DE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des Gliederungstextes durch Klicken bearbeiten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Zweite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Dritte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Vierte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Fünfte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Sechste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Siebte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77A6A87-8749-4E5D-9A6C-5666A9BEE62C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5000" lnSpcReduction="9999"/>
          </a:bodyPr>
          <a:p>
            <a:pPr indent="0">
              <a:buNone/>
            </a:pP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des Titeltextes durch Klicken bearbeiten</a:t>
            </a:r>
            <a:endParaRPr lang="de-DE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des Gliederungstextes durch Klicken bearbeiten</a:t>
            </a:r>
            <a:endParaRPr lang="de-DE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Zweite Gliederungsebene</a:t>
            </a:r>
            <a:endParaRPr lang="de-DE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Dritte Gliederungsebene</a:t>
            </a:r>
            <a:endParaRPr lang="de-DE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Vierte Gliederungsebene</a:t>
            </a:r>
            <a:endParaRPr lang="de-DE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Fünfte Gliederungsebene</a:t>
            </a:r>
            <a:endParaRPr lang="de-DE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Sechste Gliederungsebene</a:t>
            </a:r>
            <a:endParaRPr lang="de-DE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Siebte Gliederungsebene</a:t>
            </a:r>
            <a:endParaRPr lang="de-DE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des Gliederungstextes durch Klicken bearbeiten</a:t>
            </a:r>
            <a:endParaRPr lang="de-DE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Zweite Gliederungsebene</a:t>
            </a:r>
            <a:endParaRPr lang="de-DE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Dritte Gliederungsebene</a:t>
            </a:r>
            <a:endParaRPr lang="de-DE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Vierte Gliederungsebene</a:t>
            </a:r>
            <a:endParaRPr lang="de-DE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Fünfte Gliederungsebene</a:t>
            </a:r>
            <a:endParaRPr lang="de-DE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Sechste Gliederungsebene</a:t>
            </a:r>
            <a:endParaRPr lang="de-DE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Siebte Gliederungsebene</a:t>
            </a:r>
            <a:endParaRPr lang="de-DE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93D9434-17CF-4852-9509-E1DD82B58CBE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_OBJECTS_WITH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5000" lnSpcReduction="9999"/>
          </a:bodyPr>
          <a:p>
            <a:pPr indent="0">
              <a:buNone/>
            </a:pP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des Titeltextes durch Klicken bearbeiten</a:t>
            </a:r>
            <a:endParaRPr lang="de-DE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des Gliederungstextes durch Klicken bearbeiten</a:t>
            </a:r>
            <a:endParaRPr lang="de-DE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Zweite Gliederungsebene</a:t>
            </a:r>
            <a:endParaRPr lang="de-DE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Dritte Gliederungsebene</a:t>
            </a:r>
            <a:endParaRPr lang="de-DE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Vierte Gliederungsebene</a:t>
            </a:r>
            <a:endParaRPr lang="de-DE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Fünfte Gliederungsebene</a:t>
            </a:r>
            <a:endParaRPr lang="de-DE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Sechste Gliederungsebene</a:t>
            </a:r>
            <a:endParaRPr lang="de-DE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Siebte Gliederungsebene</a:t>
            </a:r>
            <a:endParaRPr lang="de-DE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0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des Gliederungstextes durch Klicken bearbeiten</a:t>
            </a:r>
            <a:endParaRPr lang="de-DE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Zweite Gliederungsebene</a:t>
            </a:r>
            <a:endParaRPr lang="de-DE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Dritte Gliederungsebene</a:t>
            </a:r>
            <a:endParaRPr lang="de-DE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Vierte Gliederungsebene</a:t>
            </a:r>
            <a:endParaRPr lang="de-DE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Fünfte Gliederungsebene</a:t>
            </a:r>
            <a:endParaRPr lang="de-DE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Sechste Gliederungsebene</a:t>
            </a:r>
            <a:endParaRPr lang="de-DE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Siebte Gliederungsebene</a:t>
            </a:r>
            <a:endParaRPr lang="de-DE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des Gliederungstextes durch Klicken bearbeiten</a:t>
            </a:r>
            <a:endParaRPr lang="de-DE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Zweite Gliederungsebene</a:t>
            </a:r>
            <a:endParaRPr lang="de-DE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Dritte Gliederungsebene</a:t>
            </a:r>
            <a:endParaRPr lang="de-DE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Vierte Gliederungsebene</a:t>
            </a:r>
            <a:endParaRPr lang="de-DE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Fünfte Gliederungsebene</a:t>
            </a:r>
            <a:endParaRPr lang="de-DE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Sechste Gliederungsebene</a:t>
            </a:r>
            <a:endParaRPr lang="de-DE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Siebte Gliederungsebene</a:t>
            </a:r>
            <a:endParaRPr lang="de-DE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0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des Gliederungstextes durch Klicken bearbeiten</a:t>
            </a:r>
            <a:endParaRPr lang="de-DE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Zweite Gliederungsebene</a:t>
            </a:r>
            <a:endParaRPr lang="de-DE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Dritte Gliederungsebene</a:t>
            </a:r>
            <a:endParaRPr lang="de-DE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Vierte Gliederungsebene</a:t>
            </a:r>
            <a:endParaRPr lang="de-DE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Fünfte Gliederungsebene</a:t>
            </a:r>
            <a:endParaRPr lang="de-DE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Sechste Gliederungsebene</a:t>
            </a:r>
            <a:endParaRPr lang="de-DE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Siebte Gliederungsebene</a:t>
            </a:r>
            <a:endParaRPr lang="de-DE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F710B86-EBF4-4B13-AD36-441A274D8F2A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5000" lnSpcReduction="9999"/>
          </a:bodyPr>
          <a:p>
            <a:pPr indent="0">
              <a:buNone/>
            </a:pP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des Titeltextes durch Klicken bearbeiten</a:t>
            </a:r>
            <a:endParaRPr lang="de-DE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BC1F24C-1034-4635-9A85-E74899325432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des Titeltextes durch Klicken bearbeiten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des Gliederungstextes durch Klicken bearbeiten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Zweite Gliederungsebene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Dritte Gliederungsebene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Vierte Gliederungsebene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Fünfte Gliederungsebene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Sechste Gliederungsebene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Siebte Gliederungsebene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des Gliederungstextes durch Klicken bearbeiten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Zweite Gliederungsebene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Dritte Gliederungsebene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Vierte Gliederungsebene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Fünfte Gliederungsebene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Sechste Gliederungsebene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Siebte Gliederungsebene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8954F93-3424-4285-8A7A-4AF0E2CB409E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92500" lnSpcReduction="9999"/>
          </a:bodyPr>
          <a:p>
            <a:pPr indent="0">
              <a:buNone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des Titeltextes durch Klicken bearbeiten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des Gliederungstextes durch Klicken bearbeiten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Zweite Gliederungsebene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Dritte Gliederungsebene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Vierte Gliederungsebene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Fünfte Gliederungsebene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Sechste Gliederungsebene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Siebte Gliederungsebene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des Gliederungstextes durch Klicken bearbeiten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Zweite Gliederungsebene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Dritte Gliederungsebene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Vierte Gliederungsebene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Fünfte Gliederungsebene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Sechste Gliederungsebene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Siebte Gliederungsebene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CA7EFD3-1370-4508-A02E-8877F436E758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7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6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Relationship Id="rId9" Type="http://schemas.openxmlformats.org/officeDocument/2006/relationships/image" Target="../media/image37.png"/><Relationship Id="rId10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5.png"/><Relationship Id="rId3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6.png"/><Relationship Id="rId3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7.png"/><Relationship Id="rId3" Type="http://schemas.openxmlformats.org/officeDocument/2006/relationships/image" Target="../media/image58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Relationship Id="rId7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84;p13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" name="Google Shape;85;p13" descr="image.png"/>
          <p:cNvPicPr/>
          <p:nvPr/>
        </p:nvPicPr>
        <p:blipFill>
          <a:blip r:embed="rId2"/>
          <a:stretch/>
        </p:blipFill>
        <p:spPr>
          <a:xfrm>
            <a:off x="666720" y="3781440"/>
            <a:ext cx="5238360" cy="1403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" name="Google Shape;86;p13" descr="image.png"/>
          <p:cNvPicPr/>
          <p:nvPr/>
        </p:nvPicPr>
        <p:blipFill>
          <a:blip r:embed="rId3"/>
          <a:stretch/>
        </p:blipFill>
        <p:spPr>
          <a:xfrm>
            <a:off x="6286680" y="1238400"/>
            <a:ext cx="4762080" cy="4285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" name="Google Shape;87;p13"/>
          <p:cNvSpPr/>
          <p:nvPr/>
        </p:nvSpPr>
        <p:spPr>
          <a:xfrm>
            <a:off x="666720" y="6505560"/>
            <a:ext cx="318096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94a3b8"/>
                </a:solidFill>
                <a:effectLst/>
                <a:uFillTx/>
                <a:latin typeface="Lato"/>
                <a:ea typeface="Lato"/>
              </a:rPr>
              <a:t>KapTester V2 · Nico Schmidt · Prüflingsnr: (133)-1251</a:t>
            </a:r>
            <a:endParaRPr lang="de-D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Google Shape;88;p13"/>
          <p:cNvSpPr/>
          <p:nvPr/>
        </p:nvSpPr>
        <p:spPr>
          <a:xfrm>
            <a:off x="666720" y="1587240"/>
            <a:ext cx="5238360" cy="25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lang="en-US" sz="1430" b="1" u="none" strike="noStrike">
                <a:solidFill>
                  <a:srgbClr val="10b981"/>
                </a:solidFill>
                <a:effectLst/>
                <a:uFillTx/>
                <a:latin typeface="Lato"/>
                <a:ea typeface="Lato"/>
              </a:rPr>
              <a:t>IHK OSNABRÜCK · AP2 2026</a:t>
            </a:r>
            <a:endParaRPr lang="de-DE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Google Shape;89;p13"/>
          <p:cNvSpPr/>
          <p:nvPr/>
        </p:nvSpPr>
        <p:spPr>
          <a:xfrm>
            <a:off x="666720" y="1935720"/>
            <a:ext cx="550044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0000"/>
              </a:lnSpc>
              <a:tabLst>
                <a:tab algn="l" pos="0"/>
              </a:tabLst>
            </a:pPr>
            <a:r>
              <a:rPr lang="en-US" sz="4500" b="1" u="none" strike="noStrike">
                <a:solidFill>
                  <a:srgbClr val="1e293b"/>
                </a:solidFill>
                <a:effectLst/>
                <a:uFillTx/>
                <a:latin typeface="Poppins"/>
                <a:ea typeface="Poppins"/>
              </a:rPr>
              <a:t>KapTester V2</a:t>
            </a:r>
            <a:endParaRPr lang="de-DE" sz="4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Google Shape;90;p13"/>
          <p:cNvSpPr/>
          <p:nvPr/>
        </p:nvSpPr>
        <p:spPr>
          <a:xfrm>
            <a:off x="666720" y="2707200"/>
            <a:ext cx="5238360" cy="69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9000"/>
              </a:lnSpc>
              <a:tabLst>
                <a:tab algn="l" pos="0"/>
              </a:tabLst>
            </a:pPr>
            <a:r>
              <a:rPr lang="en-US" sz="1950" b="0" u="none" strike="noStrike">
                <a:solidFill>
                  <a:srgbClr val="64748b"/>
                </a:solidFill>
                <a:effectLst/>
                <a:uFillTx/>
                <a:latin typeface="Lato"/>
                <a:ea typeface="Lato"/>
              </a:rPr>
              <a:t>Prüfmittel für Elektrolytkondensatoren</a:t>
            </a:r>
            <a:br>
              <a:rPr sz="1800"/>
            </a:br>
            <a:r>
              <a:rPr lang="en-US" sz="1950" b="0" u="none" strike="noStrike">
                <a:solidFill>
                  <a:srgbClr val="64748b"/>
                </a:solidFill>
                <a:effectLst/>
                <a:uFillTx/>
                <a:latin typeface="Lato"/>
                <a:ea typeface="Lato"/>
              </a:rPr>
              <a:t> (10 µF – 10.000 µF)</a:t>
            </a:r>
            <a:endParaRPr lang="de-DE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Google Shape;91;p13"/>
          <p:cNvSpPr/>
          <p:nvPr/>
        </p:nvSpPr>
        <p:spPr>
          <a:xfrm>
            <a:off x="666720" y="4257720"/>
            <a:ext cx="5238360" cy="50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0000"/>
              </a:lnSpc>
              <a:tabLst>
                <a:tab algn="l" pos="0"/>
              </a:tabLst>
            </a:pPr>
            <a:r>
              <a:rPr lang="en-US" sz="1430" b="1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Nico Schmidt</a:t>
            </a:r>
            <a:br>
              <a:rPr sz="1800"/>
            </a:br>
            <a:r>
              <a:rPr lang="en-US" sz="143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 Elektroniker für Geräte und Systeme</a:t>
            </a:r>
            <a:endParaRPr lang="de-DE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Google Shape;92;p13"/>
          <p:cNvSpPr/>
          <p:nvPr/>
        </p:nvSpPr>
        <p:spPr>
          <a:xfrm>
            <a:off x="666720" y="4945320"/>
            <a:ext cx="5238360" cy="2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9000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94a3b8"/>
                </a:solidFill>
                <a:effectLst/>
                <a:uFillTx/>
                <a:latin typeface="Lato"/>
                <a:ea typeface="Lato"/>
              </a:rPr>
              <a:t>GBS TEMPEST und Service GmbH, Diepholz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0" name="Google Shape;93;p13" descr="image.png"/>
          <p:cNvPicPr/>
          <p:nvPr/>
        </p:nvPicPr>
        <p:blipFill>
          <a:blip r:embed="rId4"/>
          <a:stretch/>
        </p:blipFill>
        <p:spPr>
          <a:xfrm>
            <a:off x="7796160" y="3152880"/>
            <a:ext cx="456840" cy="456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98;p14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2" name="Google Shape;99;p14" descr="image.png"/>
          <p:cNvPicPr/>
          <p:nvPr/>
        </p:nvPicPr>
        <p:blipFill>
          <a:blip r:embed="rId2"/>
          <a:stretch/>
        </p:blipFill>
        <p:spPr>
          <a:xfrm>
            <a:off x="666720" y="1390680"/>
            <a:ext cx="3524040" cy="1549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" name="Google Shape;100;p14" descr="image.png"/>
          <p:cNvPicPr/>
          <p:nvPr/>
        </p:nvPicPr>
        <p:blipFill>
          <a:blip r:embed="rId3"/>
          <a:stretch/>
        </p:blipFill>
        <p:spPr>
          <a:xfrm>
            <a:off x="4334040" y="1390680"/>
            <a:ext cx="3524040" cy="1549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" name="Google Shape;101;p14" descr="image.png"/>
          <p:cNvPicPr/>
          <p:nvPr/>
        </p:nvPicPr>
        <p:blipFill>
          <a:blip r:embed="rId4"/>
          <a:stretch/>
        </p:blipFill>
        <p:spPr>
          <a:xfrm>
            <a:off x="8001000" y="1390680"/>
            <a:ext cx="3524040" cy="1549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" name="Google Shape;102;p14" descr="image.png"/>
          <p:cNvPicPr/>
          <p:nvPr/>
        </p:nvPicPr>
        <p:blipFill>
          <a:blip r:embed="rId5"/>
          <a:stretch/>
        </p:blipFill>
        <p:spPr>
          <a:xfrm>
            <a:off x="666720" y="3082680"/>
            <a:ext cx="3524040" cy="1377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Google Shape;103;p14" descr="image.png"/>
          <p:cNvPicPr/>
          <p:nvPr/>
        </p:nvPicPr>
        <p:blipFill>
          <a:blip r:embed="rId6"/>
          <a:stretch/>
        </p:blipFill>
        <p:spPr>
          <a:xfrm>
            <a:off x="4334040" y="3082680"/>
            <a:ext cx="3524040" cy="1377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" name="Google Shape;104;p14" descr="image.png"/>
          <p:cNvPicPr/>
          <p:nvPr/>
        </p:nvPicPr>
        <p:blipFill>
          <a:blip r:embed="rId7"/>
          <a:stretch/>
        </p:blipFill>
        <p:spPr>
          <a:xfrm>
            <a:off x="8001000" y="3082680"/>
            <a:ext cx="3524040" cy="1377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" name="Google Shape;105;p14" descr="image.png"/>
          <p:cNvPicPr/>
          <p:nvPr/>
        </p:nvPicPr>
        <p:blipFill>
          <a:blip r:embed="rId8"/>
          <a:stretch/>
        </p:blipFill>
        <p:spPr>
          <a:xfrm>
            <a:off x="666720" y="4603680"/>
            <a:ext cx="3524040" cy="1549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" name="Google Shape;106;p14" descr="image.png"/>
          <p:cNvPicPr/>
          <p:nvPr/>
        </p:nvPicPr>
        <p:blipFill>
          <a:blip r:embed="rId9"/>
          <a:stretch/>
        </p:blipFill>
        <p:spPr>
          <a:xfrm>
            <a:off x="4334040" y="4603680"/>
            <a:ext cx="3524040" cy="1549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0" name="Google Shape;107;p14" descr="image.png"/>
          <p:cNvPicPr/>
          <p:nvPr/>
        </p:nvPicPr>
        <p:blipFill>
          <a:blip r:embed="rId10"/>
          <a:stretch/>
        </p:blipFill>
        <p:spPr>
          <a:xfrm>
            <a:off x="8001000" y="4603680"/>
            <a:ext cx="3524040" cy="154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" name="Google Shape;108;p14"/>
          <p:cNvSpPr/>
          <p:nvPr/>
        </p:nvSpPr>
        <p:spPr>
          <a:xfrm>
            <a:off x="1162080" y="476280"/>
            <a:ext cx="10881000" cy="54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2850" b="0" u="none" strike="noStrike">
                <a:solidFill>
                  <a:srgbClr val="0f172a"/>
                </a:solidFill>
                <a:effectLst/>
                <a:uFillTx/>
                <a:latin typeface="Poppins SemiBold"/>
                <a:ea typeface="Poppins SemiBold"/>
              </a:rPr>
              <a:t>Projekt-Gliederung</a:t>
            </a:r>
            <a:endParaRPr lang="de-DE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Google Shape;109;p14"/>
          <p:cNvSpPr/>
          <p:nvPr/>
        </p:nvSpPr>
        <p:spPr>
          <a:xfrm>
            <a:off x="666720" y="1019160"/>
            <a:ext cx="640980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3" name="Google Shape;110;p14" descr="image.png"/>
          <p:cNvPicPr/>
          <p:nvPr/>
        </p:nvPicPr>
        <p:blipFill>
          <a:blip r:embed="rId11"/>
          <a:stretch/>
        </p:blipFill>
        <p:spPr>
          <a:xfrm>
            <a:off x="666720" y="595440"/>
            <a:ext cx="304560" cy="304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4" name="Google Shape;111;p14" descr="image.png"/>
          <p:cNvPicPr/>
          <p:nvPr/>
        </p:nvPicPr>
        <p:blipFill>
          <a:blip r:embed="rId12"/>
          <a:stretch/>
        </p:blipFill>
        <p:spPr>
          <a:xfrm>
            <a:off x="2295360" y="1650960"/>
            <a:ext cx="266400" cy="26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Google Shape;112;p14"/>
          <p:cNvSpPr/>
          <p:nvPr/>
        </p:nvSpPr>
        <p:spPr>
          <a:xfrm>
            <a:off x="1928880" y="2012760"/>
            <a:ext cx="99972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430" b="0" u="none" strike="noStrike">
                <a:solidFill>
                  <a:srgbClr val="1e293b"/>
                </a:solidFill>
                <a:effectLst/>
                <a:uFillTx/>
                <a:latin typeface="Poppins SemiBold"/>
                <a:ea typeface="Poppins SemiBold"/>
              </a:rPr>
              <a:t>01 Auftrag</a:t>
            </a:r>
            <a:endParaRPr lang="de-DE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Google Shape;113;p14"/>
          <p:cNvSpPr/>
          <p:nvPr/>
        </p:nvSpPr>
        <p:spPr>
          <a:xfrm>
            <a:off x="866880" y="2336760"/>
            <a:ext cx="31237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tabLst>
                <a:tab algn="l" pos="0"/>
              </a:tabLst>
            </a:pPr>
            <a:r>
              <a:rPr lang="en-US" sz="113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Analyse der Ausgangslage &amp; präzise Zieldefinition</a:t>
            </a:r>
            <a:endParaRPr lang="de-DE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7" name="Google Shape;114;p14" descr="image.png"/>
          <p:cNvPicPr/>
          <p:nvPr/>
        </p:nvPicPr>
        <p:blipFill>
          <a:blip r:embed="rId13"/>
          <a:stretch/>
        </p:blipFill>
        <p:spPr>
          <a:xfrm>
            <a:off x="5977080" y="1650960"/>
            <a:ext cx="237600" cy="26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Google Shape;115;p14"/>
          <p:cNvSpPr/>
          <p:nvPr/>
        </p:nvSpPr>
        <p:spPr>
          <a:xfrm>
            <a:off x="5375880" y="2012760"/>
            <a:ext cx="1440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430" b="0" u="none" strike="noStrike">
                <a:solidFill>
                  <a:srgbClr val="1e293b"/>
                </a:solidFill>
                <a:effectLst/>
                <a:uFillTx/>
                <a:latin typeface="Poppins SemiBold"/>
                <a:ea typeface="Poppins SemiBold"/>
              </a:rPr>
              <a:t>02 Messprinzip</a:t>
            </a:r>
            <a:endParaRPr lang="de-DE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Google Shape;116;p14"/>
          <p:cNvSpPr/>
          <p:nvPr/>
        </p:nvSpPr>
        <p:spPr>
          <a:xfrm>
            <a:off x="4533840" y="2336760"/>
            <a:ext cx="31237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tabLst>
                <a:tab algn="l" pos="0"/>
              </a:tabLst>
            </a:pPr>
            <a:r>
              <a:rPr lang="en-US" sz="113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Physikalische Grundlagen &amp; mathematische Herleitung</a:t>
            </a:r>
            <a:endParaRPr lang="de-DE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0" name="Google Shape;117;p14" descr="image.png"/>
          <p:cNvPicPr/>
          <p:nvPr/>
        </p:nvPicPr>
        <p:blipFill>
          <a:blip r:embed="rId14"/>
          <a:stretch/>
        </p:blipFill>
        <p:spPr>
          <a:xfrm>
            <a:off x="9610560" y="1650960"/>
            <a:ext cx="304560" cy="26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" name="Google Shape;118;p14"/>
          <p:cNvSpPr/>
          <p:nvPr/>
        </p:nvSpPr>
        <p:spPr>
          <a:xfrm>
            <a:off x="9123120" y="2012760"/>
            <a:ext cx="12798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430" b="0" u="none" strike="noStrike">
                <a:solidFill>
                  <a:srgbClr val="1e293b"/>
                </a:solidFill>
                <a:effectLst/>
                <a:uFillTx/>
                <a:latin typeface="Poppins SemiBold"/>
                <a:ea typeface="Poppins SemiBold"/>
              </a:rPr>
              <a:t>03 Schaltung</a:t>
            </a:r>
            <a:endParaRPr lang="de-DE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Google Shape;119;p14"/>
          <p:cNvSpPr/>
          <p:nvPr/>
        </p:nvSpPr>
        <p:spPr>
          <a:xfrm>
            <a:off x="8201160" y="2336760"/>
            <a:ext cx="31237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tabLst>
                <a:tab algn="l" pos="0"/>
              </a:tabLst>
            </a:pPr>
            <a:r>
              <a:rPr lang="en-US" sz="113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Konkretisierung der Systemarchitektur &amp; Bauteile</a:t>
            </a:r>
            <a:endParaRPr lang="de-DE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3" name="Google Shape;120;p14" descr="image.png"/>
          <p:cNvPicPr/>
          <p:nvPr/>
        </p:nvPicPr>
        <p:blipFill>
          <a:blip r:embed="rId15"/>
          <a:stretch/>
        </p:blipFill>
        <p:spPr>
          <a:xfrm>
            <a:off x="2295360" y="3342960"/>
            <a:ext cx="266400" cy="26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Google Shape;121;p14"/>
          <p:cNvSpPr/>
          <p:nvPr/>
        </p:nvSpPr>
        <p:spPr>
          <a:xfrm>
            <a:off x="1783800" y="3705120"/>
            <a:ext cx="128988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430" b="0" u="none" strike="noStrike">
                <a:solidFill>
                  <a:srgbClr val="1e293b"/>
                </a:solidFill>
                <a:effectLst/>
                <a:uFillTx/>
                <a:latin typeface="Poppins SemiBold"/>
                <a:ea typeface="Poppins SemiBold"/>
              </a:rPr>
              <a:t>04 V1 - Fehler</a:t>
            </a:r>
            <a:endParaRPr lang="de-DE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Google Shape;122;p14"/>
          <p:cNvSpPr/>
          <p:nvPr/>
        </p:nvSpPr>
        <p:spPr>
          <a:xfrm>
            <a:off x="928800" y="4028760"/>
            <a:ext cx="299988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tabLst>
                <a:tab algn="l" pos="0"/>
              </a:tabLst>
            </a:pPr>
            <a:r>
              <a:rPr lang="en-US" sz="113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Analyse des Footprint-Fails &amp; Risiko-Bewertung</a:t>
            </a:r>
            <a:endParaRPr lang="de-DE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" name="Google Shape;123;p14" descr="image.png"/>
          <p:cNvPicPr/>
          <p:nvPr/>
        </p:nvPicPr>
        <p:blipFill>
          <a:blip r:embed="rId16"/>
          <a:stretch/>
        </p:blipFill>
        <p:spPr>
          <a:xfrm>
            <a:off x="5962680" y="3342960"/>
            <a:ext cx="266400" cy="26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" name="Google Shape;124;p14"/>
          <p:cNvSpPr/>
          <p:nvPr/>
        </p:nvSpPr>
        <p:spPr>
          <a:xfrm>
            <a:off x="5370840" y="3705120"/>
            <a:ext cx="144972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430" b="0" u="none" strike="noStrike">
                <a:solidFill>
                  <a:srgbClr val="1e293b"/>
                </a:solidFill>
                <a:effectLst/>
                <a:uFillTx/>
                <a:latin typeface="Poppins SemiBold"/>
                <a:ea typeface="Poppins SemiBold"/>
              </a:rPr>
              <a:t>05 V2 - Lösung</a:t>
            </a:r>
            <a:endParaRPr lang="de-DE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Google Shape;125;p14"/>
          <p:cNvSpPr/>
          <p:nvPr/>
        </p:nvSpPr>
        <p:spPr>
          <a:xfrm>
            <a:off x="4562640" y="4028760"/>
            <a:ext cx="306684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tabLst>
                <a:tab algn="l" pos="0"/>
              </a:tabLst>
            </a:pPr>
            <a:r>
              <a:rPr lang="en-US" sz="113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Korrekturmaßnahmen &amp; technische Optimierung</a:t>
            </a:r>
            <a:endParaRPr lang="de-DE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9" name="Google Shape;126;p14" descr="image.png"/>
          <p:cNvPicPr/>
          <p:nvPr/>
        </p:nvPicPr>
        <p:blipFill>
          <a:blip r:embed="rId17"/>
          <a:stretch/>
        </p:blipFill>
        <p:spPr>
          <a:xfrm>
            <a:off x="9629640" y="3342960"/>
            <a:ext cx="266400" cy="26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" name="Google Shape;127;p14"/>
          <p:cNvSpPr/>
          <p:nvPr/>
        </p:nvSpPr>
        <p:spPr>
          <a:xfrm>
            <a:off x="9158040" y="3705120"/>
            <a:ext cx="120996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430" b="0" u="none" strike="noStrike">
                <a:solidFill>
                  <a:srgbClr val="1e293b"/>
                </a:solidFill>
                <a:effectLst/>
                <a:uFillTx/>
                <a:latin typeface="Poppins SemiBold"/>
                <a:ea typeface="Poppins SemiBold"/>
              </a:rPr>
              <a:t>06 Fertigung</a:t>
            </a:r>
            <a:endParaRPr lang="de-DE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Google Shape;128;p14"/>
          <p:cNvSpPr/>
          <p:nvPr/>
        </p:nvSpPr>
        <p:spPr>
          <a:xfrm>
            <a:off x="8215200" y="4028760"/>
            <a:ext cx="309528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tabLst>
                <a:tab algn="l" pos="0"/>
              </a:tabLst>
            </a:pPr>
            <a:r>
              <a:rPr lang="en-US" sz="113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Bestückung &amp; Montage nach IPC-A-610 Standard</a:t>
            </a:r>
            <a:endParaRPr lang="de-DE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2" name="Google Shape;129;p14" descr="image.png"/>
          <p:cNvPicPr/>
          <p:nvPr/>
        </p:nvPicPr>
        <p:blipFill>
          <a:blip r:embed="rId18"/>
          <a:stretch/>
        </p:blipFill>
        <p:spPr>
          <a:xfrm>
            <a:off x="2262240" y="4949640"/>
            <a:ext cx="333000" cy="26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" name="Google Shape;130;p14"/>
          <p:cNvSpPr/>
          <p:nvPr/>
        </p:nvSpPr>
        <p:spPr>
          <a:xfrm>
            <a:off x="1838880" y="5311800"/>
            <a:ext cx="117972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430" b="0" u="none" strike="noStrike">
                <a:solidFill>
                  <a:srgbClr val="1e293b"/>
                </a:solidFill>
                <a:effectLst/>
                <a:uFillTx/>
                <a:latin typeface="Poppins SemiBold"/>
                <a:ea typeface="Poppins SemiBold"/>
              </a:rPr>
              <a:t>07 Firmware</a:t>
            </a:r>
            <a:endParaRPr lang="de-DE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Google Shape;131;p14"/>
          <p:cNvSpPr/>
          <p:nvPr/>
        </p:nvSpPr>
        <p:spPr>
          <a:xfrm>
            <a:off x="947880" y="5635440"/>
            <a:ext cx="296208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tabLst>
                <a:tab algn="l" pos="0"/>
              </a:tabLst>
            </a:pPr>
            <a:r>
              <a:rPr lang="en-US" sz="113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Effizientes Software-Design in prozessnahem C</a:t>
            </a:r>
            <a:endParaRPr lang="de-DE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5" name="Google Shape;132;p14" descr="image.png"/>
          <p:cNvPicPr/>
          <p:nvPr/>
        </p:nvPicPr>
        <p:blipFill>
          <a:blip r:embed="rId19"/>
          <a:stretch/>
        </p:blipFill>
        <p:spPr>
          <a:xfrm>
            <a:off x="5962680" y="4949640"/>
            <a:ext cx="266400" cy="26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Google Shape;133;p14"/>
          <p:cNvSpPr/>
          <p:nvPr/>
        </p:nvSpPr>
        <p:spPr>
          <a:xfrm>
            <a:off x="5396040" y="5311800"/>
            <a:ext cx="139968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430" b="0" u="none" strike="noStrike">
                <a:solidFill>
                  <a:srgbClr val="1e293b"/>
                </a:solidFill>
                <a:effectLst/>
                <a:uFillTx/>
                <a:latin typeface="Poppins SemiBold"/>
                <a:ea typeface="Poppins SemiBold"/>
              </a:rPr>
              <a:t>08 Validierung</a:t>
            </a:r>
            <a:endParaRPr lang="de-DE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Google Shape;134;p14"/>
          <p:cNvSpPr/>
          <p:nvPr/>
        </p:nvSpPr>
        <p:spPr>
          <a:xfrm>
            <a:off x="4648320" y="5635440"/>
            <a:ext cx="289512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tabLst>
                <a:tab algn="l" pos="0"/>
              </a:tabLst>
            </a:pPr>
            <a:r>
              <a:rPr lang="en-US" sz="113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Inbetriebnahme-Tests &amp; finales Messprotokoll</a:t>
            </a:r>
            <a:endParaRPr lang="de-DE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" name="Google Shape;135;p14" descr="image.png"/>
          <p:cNvPicPr/>
          <p:nvPr/>
        </p:nvPicPr>
        <p:blipFill>
          <a:blip r:embed="rId20"/>
          <a:stretch/>
        </p:blipFill>
        <p:spPr>
          <a:xfrm>
            <a:off x="9663120" y="4863960"/>
            <a:ext cx="199800" cy="26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Google Shape;136;p14"/>
          <p:cNvSpPr/>
          <p:nvPr/>
        </p:nvSpPr>
        <p:spPr>
          <a:xfrm>
            <a:off x="9388080" y="5226120"/>
            <a:ext cx="74988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430" b="0" u="none" strike="noStrike">
                <a:solidFill>
                  <a:srgbClr val="1e293b"/>
                </a:solidFill>
                <a:effectLst/>
                <a:uFillTx/>
                <a:latin typeface="Poppins SemiBold"/>
                <a:ea typeface="Poppins SemiBold"/>
              </a:rPr>
              <a:t>09 Fazit</a:t>
            </a:r>
            <a:endParaRPr lang="de-DE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Google Shape;137;p14"/>
          <p:cNvSpPr/>
          <p:nvPr/>
        </p:nvSpPr>
        <p:spPr>
          <a:xfrm>
            <a:off x="8201160" y="5549760"/>
            <a:ext cx="31237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tabLst>
                <a:tab algn="l" pos="0"/>
              </a:tabLst>
            </a:pPr>
            <a:r>
              <a:rPr lang="en-US" sz="113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Zusammenfassung der Learnings &amp; Projektausblick</a:t>
            </a:r>
            <a:endParaRPr lang="de-DE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42;p15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2" name="Google Shape;143;p15" descr="image.png"/>
          <p:cNvPicPr/>
          <p:nvPr/>
        </p:nvPicPr>
        <p:blipFill>
          <a:blip r:embed="rId2"/>
          <a:stretch/>
        </p:blipFill>
        <p:spPr>
          <a:xfrm>
            <a:off x="720000" y="2250000"/>
            <a:ext cx="5238360" cy="2323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3" name="Google Shape;144;p15" descr="image.png"/>
          <p:cNvPicPr/>
          <p:nvPr/>
        </p:nvPicPr>
        <p:blipFill>
          <a:blip r:embed="rId3"/>
          <a:stretch/>
        </p:blipFill>
        <p:spPr>
          <a:xfrm>
            <a:off x="6286680" y="2250000"/>
            <a:ext cx="5238360" cy="2323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" name="Google Shape;145;p15"/>
          <p:cNvSpPr/>
          <p:nvPr/>
        </p:nvSpPr>
        <p:spPr>
          <a:xfrm>
            <a:off x="1162080" y="476280"/>
            <a:ext cx="10881000" cy="54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2850" b="0" u="none" strike="noStrike">
                <a:solidFill>
                  <a:srgbClr val="0f172a"/>
                </a:solidFill>
                <a:effectLst/>
                <a:uFillTx/>
                <a:latin typeface="Poppins SemiBold"/>
                <a:ea typeface="Poppins SemiBold"/>
              </a:rPr>
              <a:t>Ausgangssituation &amp; Auftrag</a:t>
            </a:r>
            <a:endParaRPr lang="de-DE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Google Shape;146;p15"/>
          <p:cNvSpPr/>
          <p:nvPr/>
        </p:nvSpPr>
        <p:spPr>
          <a:xfrm>
            <a:off x="666720" y="1019160"/>
            <a:ext cx="460008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6" name="Google Shape;147;p15" descr="image.png"/>
          <p:cNvPicPr/>
          <p:nvPr/>
        </p:nvPicPr>
        <p:blipFill>
          <a:blip r:embed="rId4"/>
          <a:stretch/>
        </p:blipFill>
        <p:spPr>
          <a:xfrm>
            <a:off x="666720" y="595440"/>
            <a:ext cx="304560" cy="30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Google Shape;148;p15"/>
          <p:cNvSpPr/>
          <p:nvPr/>
        </p:nvSpPr>
        <p:spPr>
          <a:xfrm>
            <a:off x="666720" y="4859640"/>
            <a:ext cx="10858320" cy="25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40000"/>
              </a:lnSpc>
              <a:tabLst>
                <a:tab algn="l" pos="0"/>
              </a:tabLst>
            </a:pPr>
            <a:r>
              <a:rPr lang="en-US" sz="1430" b="0" i="1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✓ Nachweis der Betriebstauglichkeit durch systematisches Messprotokoll.</a:t>
            </a:r>
            <a:endParaRPr lang="de-DE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Google Shape;149;p15"/>
          <p:cNvSpPr/>
          <p:nvPr/>
        </p:nvSpPr>
        <p:spPr>
          <a:xfrm>
            <a:off x="914400" y="2440440"/>
            <a:ext cx="504036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4768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950" b="0" u="none" strike="noStrike">
                <a:solidFill>
                  <a:srgbClr val="ef4444"/>
                </a:solidFill>
                <a:effectLst/>
                <a:uFillTx/>
                <a:latin typeface="Poppins SemiBold"/>
                <a:ea typeface="Poppins SemiBold"/>
              </a:rPr>
              <a:t>Das Problem</a:t>
            </a:r>
            <a:endParaRPr lang="de-DE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Google Shape;150;p15"/>
          <p:cNvSpPr/>
          <p:nvPr/>
        </p:nvSpPr>
        <p:spPr>
          <a:xfrm>
            <a:off x="6534000" y="2440440"/>
            <a:ext cx="504036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4768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950" b="0" u="none" strike="noStrike">
                <a:solidFill>
                  <a:srgbClr val="059669"/>
                </a:solidFill>
                <a:effectLst/>
                <a:uFillTx/>
                <a:latin typeface="Poppins SemiBold"/>
                <a:ea typeface="Poppins SemiBold"/>
              </a:rPr>
              <a:t>Das Ziel</a:t>
            </a:r>
            <a:endParaRPr lang="de-DE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" name="Google Shape;151;p15" descr="image.png"/>
          <p:cNvPicPr/>
          <p:nvPr/>
        </p:nvPicPr>
        <p:blipFill>
          <a:blip r:embed="rId5"/>
          <a:stretch/>
        </p:blipFill>
        <p:spPr>
          <a:xfrm>
            <a:off x="914400" y="2497680"/>
            <a:ext cx="247320" cy="24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Google Shape;152;p15"/>
          <p:cNvSpPr/>
          <p:nvPr/>
        </p:nvSpPr>
        <p:spPr>
          <a:xfrm>
            <a:off x="1018440" y="2876040"/>
            <a:ext cx="10440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43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•</a:t>
            </a:r>
            <a:endParaRPr lang="de-DE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Google Shape;153;p15"/>
          <p:cNvSpPr/>
          <p:nvPr/>
        </p:nvSpPr>
        <p:spPr>
          <a:xfrm>
            <a:off x="1104840" y="2811600"/>
            <a:ext cx="4609800" cy="60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476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lang="en-US" sz="143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Kein dediziertes Prüfmittel für große Kapazitäten (&gt; 1 mF) im Werkstattbetrieb verfügbar.</a:t>
            </a:r>
            <a:endParaRPr lang="de-DE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Google Shape;154;p15"/>
          <p:cNvSpPr/>
          <p:nvPr/>
        </p:nvSpPr>
        <p:spPr>
          <a:xfrm>
            <a:off x="1000440" y="3523320"/>
            <a:ext cx="10440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43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•</a:t>
            </a:r>
            <a:endParaRPr lang="de-DE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Google Shape;155;p15"/>
          <p:cNvSpPr/>
          <p:nvPr/>
        </p:nvSpPr>
        <p:spPr>
          <a:xfrm>
            <a:off x="1104840" y="3471120"/>
            <a:ext cx="4609800" cy="50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476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lang="en-US" sz="143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Handelsübliche DMMs ungenau, zu langsam (&gt; 30s) oder begrenzte Messbereiche.</a:t>
            </a:r>
            <a:endParaRPr lang="de-DE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Google Shape;156;p15"/>
          <p:cNvSpPr/>
          <p:nvPr/>
        </p:nvSpPr>
        <p:spPr>
          <a:xfrm>
            <a:off x="1000440" y="4281120"/>
            <a:ext cx="104400" cy="21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43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•</a:t>
            </a:r>
            <a:endParaRPr lang="de-DE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Google Shape;157;p15"/>
          <p:cNvSpPr/>
          <p:nvPr/>
        </p:nvSpPr>
        <p:spPr>
          <a:xfrm>
            <a:off x="1104840" y="3977640"/>
            <a:ext cx="4609800" cy="52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476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endParaRPr lang="de-DE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lang="en-US" sz="143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Sicherheitsrisiko durch Restladung/Verpolung bei Elkos.</a:t>
            </a:r>
            <a:endParaRPr lang="de-DE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7" name="Google Shape;158;p15" descr="image.png"/>
          <p:cNvPicPr/>
          <p:nvPr/>
        </p:nvPicPr>
        <p:blipFill>
          <a:blip r:embed="rId6"/>
          <a:stretch/>
        </p:blipFill>
        <p:spPr>
          <a:xfrm>
            <a:off x="6534000" y="2497680"/>
            <a:ext cx="247320" cy="24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Google Shape;159;p15"/>
          <p:cNvSpPr/>
          <p:nvPr/>
        </p:nvSpPr>
        <p:spPr>
          <a:xfrm>
            <a:off x="6620040" y="2962440"/>
            <a:ext cx="10440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43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•</a:t>
            </a:r>
            <a:endParaRPr lang="de-DE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Google Shape;160;p15"/>
          <p:cNvSpPr/>
          <p:nvPr/>
        </p:nvSpPr>
        <p:spPr>
          <a:xfrm>
            <a:off x="6724800" y="2964240"/>
            <a:ext cx="4609800" cy="25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476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lang="en-US" sz="143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Präziser Bereich: 10 µF – 10.000 µF (10 mF).</a:t>
            </a:r>
            <a:endParaRPr lang="de-DE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Google Shape;161;p15"/>
          <p:cNvSpPr/>
          <p:nvPr/>
        </p:nvSpPr>
        <p:spPr>
          <a:xfrm>
            <a:off x="6620040" y="3215880"/>
            <a:ext cx="10440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43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•</a:t>
            </a:r>
            <a:endParaRPr lang="de-DE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Google Shape;162;p15"/>
          <p:cNvSpPr/>
          <p:nvPr/>
        </p:nvSpPr>
        <p:spPr>
          <a:xfrm>
            <a:off x="6724800" y="3217680"/>
            <a:ext cx="4609800" cy="25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476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lang="en-US" sz="143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Integrierter Verpolschutz (PMOS Q1).</a:t>
            </a:r>
            <a:endParaRPr lang="de-DE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Google Shape;163;p15"/>
          <p:cNvSpPr/>
          <p:nvPr/>
        </p:nvSpPr>
        <p:spPr>
          <a:xfrm>
            <a:off x="6620040" y="3468960"/>
            <a:ext cx="10440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43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•</a:t>
            </a:r>
            <a:endParaRPr lang="de-DE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Google Shape;164;p15"/>
          <p:cNvSpPr/>
          <p:nvPr/>
        </p:nvSpPr>
        <p:spPr>
          <a:xfrm>
            <a:off x="6724800" y="3471120"/>
            <a:ext cx="4609800" cy="25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476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lang="en-US" sz="143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Automatischer Entladepfad: ≤ 10s via NMOS Q2.</a:t>
            </a:r>
            <a:endParaRPr lang="de-DE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Google Shape;165;p15"/>
          <p:cNvSpPr/>
          <p:nvPr/>
        </p:nvSpPr>
        <p:spPr>
          <a:xfrm>
            <a:off x="6620040" y="3722400"/>
            <a:ext cx="10440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43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•</a:t>
            </a:r>
            <a:endParaRPr lang="de-DE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Google Shape;166;p15"/>
          <p:cNvSpPr/>
          <p:nvPr/>
        </p:nvSpPr>
        <p:spPr>
          <a:xfrm>
            <a:off x="6724800" y="3724200"/>
            <a:ext cx="4609800" cy="25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476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lang="en-US" sz="143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Klares User-Interface via OLED &amp; Status-LEDs.</a:t>
            </a:r>
            <a:endParaRPr lang="de-DE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71;p16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7" name="Google Shape;172;p16" descr="image.png"/>
          <p:cNvPicPr/>
          <p:nvPr/>
        </p:nvPicPr>
        <p:blipFill>
          <a:blip r:embed="rId2"/>
          <a:stretch/>
        </p:blipFill>
        <p:spPr>
          <a:xfrm>
            <a:off x="666720" y="1612440"/>
            <a:ext cx="10858320" cy="1337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8" name="Google Shape;173;p16" descr="image.png"/>
          <p:cNvPicPr/>
          <p:nvPr/>
        </p:nvPicPr>
        <p:blipFill>
          <a:blip r:embed="rId3"/>
          <a:stretch/>
        </p:blipFill>
        <p:spPr>
          <a:xfrm>
            <a:off x="666720" y="3188520"/>
            <a:ext cx="5238360" cy="2742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9" name="Google Shape;174;p16" descr="image.png"/>
          <p:cNvPicPr/>
          <p:nvPr/>
        </p:nvPicPr>
        <p:blipFill>
          <a:blip r:embed="rId4"/>
          <a:stretch/>
        </p:blipFill>
        <p:spPr>
          <a:xfrm>
            <a:off x="6286680" y="3803760"/>
            <a:ext cx="5238360" cy="123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0" name="Google Shape;175;p16"/>
          <p:cNvSpPr/>
          <p:nvPr/>
        </p:nvSpPr>
        <p:spPr>
          <a:xfrm>
            <a:off x="1123920" y="476280"/>
            <a:ext cx="10920960" cy="54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2850" b="0" u="none" strike="noStrike">
                <a:solidFill>
                  <a:srgbClr val="0f172a"/>
                </a:solidFill>
                <a:effectLst/>
                <a:uFillTx/>
                <a:latin typeface="Poppins SemiBold"/>
                <a:ea typeface="Poppins SemiBold"/>
              </a:rPr>
              <a:t>Idee &amp; Messprinzip</a:t>
            </a:r>
            <a:endParaRPr lang="de-DE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Google Shape;176;p16"/>
          <p:cNvSpPr/>
          <p:nvPr/>
        </p:nvSpPr>
        <p:spPr>
          <a:xfrm>
            <a:off x="666720" y="1019160"/>
            <a:ext cx="654336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2" name="Google Shape;177;p16" descr="image.png"/>
          <p:cNvPicPr/>
          <p:nvPr/>
        </p:nvPicPr>
        <p:blipFill>
          <a:blip r:embed="rId5"/>
          <a:stretch/>
        </p:blipFill>
        <p:spPr>
          <a:xfrm>
            <a:off x="666720" y="595440"/>
            <a:ext cx="266400" cy="304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3" name="Google Shape;178;p16" descr="image.png"/>
          <p:cNvPicPr/>
          <p:nvPr/>
        </p:nvPicPr>
        <p:blipFill>
          <a:blip r:embed="rId6"/>
          <a:stretch/>
        </p:blipFill>
        <p:spPr>
          <a:xfrm>
            <a:off x="857160" y="1802880"/>
            <a:ext cx="10477080" cy="956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Google Shape;179;p16"/>
          <p:cNvSpPr/>
          <p:nvPr/>
        </p:nvSpPr>
        <p:spPr>
          <a:xfrm>
            <a:off x="914400" y="3378960"/>
            <a:ext cx="504036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950" b="0" u="none" strike="noStrike">
                <a:solidFill>
                  <a:srgbClr val="059669"/>
                </a:solidFill>
                <a:effectLst/>
                <a:uFillTx/>
                <a:latin typeface="Poppins SemiBold"/>
                <a:ea typeface="Poppins SemiBold"/>
              </a:rPr>
              <a:t>Messparameter</a:t>
            </a:r>
            <a:endParaRPr lang="de-DE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Google Shape;180;p16"/>
          <p:cNvSpPr/>
          <p:nvPr/>
        </p:nvSpPr>
        <p:spPr>
          <a:xfrm>
            <a:off x="914400" y="3931560"/>
            <a:ext cx="4800240" cy="50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lang="en-US" sz="1430" b="1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I = 1,042 mA:</a:t>
            </a:r>
            <a:r>
              <a:rPr lang="en-US" sz="143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 Konstantstromquelle via LM317L (1,25V / 1,2kΩ).</a:t>
            </a:r>
            <a:endParaRPr lang="de-DE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Google Shape;181;p16"/>
          <p:cNvSpPr/>
          <p:nvPr/>
        </p:nvSpPr>
        <p:spPr>
          <a:xfrm>
            <a:off x="914400" y="4619160"/>
            <a:ext cx="4800240" cy="50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lang="en-US" sz="1430" b="1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ΔU = 1,1 V:</a:t>
            </a:r>
            <a:r>
              <a:rPr lang="en-US" sz="143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 Messende bei Erreichen der internen Referenzspannung des ATmega.</a:t>
            </a:r>
            <a:endParaRPr lang="de-DE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Google Shape;182;p16"/>
          <p:cNvSpPr/>
          <p:nvPr/>
        </p:nvSpPr>
        <p:spPr>
          <a:xfrm>
            <a:off x="914400" y="5306760"/>
            <a:ext cx="4800240" cy="25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lang="en-US" sz="1430" b="1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t = Ladezeit:</a:t>
            </a:r>
            <a:r>
              <a:rPr lang="en-US" sz="143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 Erfasst durch 16-Bit Hardware-Timer Messung.</a:t>
            </a:r>
            <a:endParaRPr lang="de-DE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Google Shape;183;p16"/>
          <p:cNvSpPr/>
          <p:nvPr/>
        </p:nvSpPr>
        <p:spPr>
          <a:xfrm>
            <a:off x="6286680" y="3369600"/>
            <a:ext cx="5238360" cy="25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lang="en-US" sz="143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Das Ergebnis </a:t>
            </a:r>
            <a:r>
              <a:rPr lang="en-US" sz="1430" b="1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C</a:t>
            </a:r>
            <a:r>
              <a:rPr lang="en-US" sz="143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 ist direkt proportional zur gemessenen Zeit </a:t>
            </a:r>
            <a:r>
              <a:rPr lang="en-US" sz="1430" b="1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t</a:t>
            </a:r>
            <a:r>
              <a:rPr lang="en-US" sz="143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.</a:t>
            </a:r>
            <a:endParaRPr lang="de-DE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Google Shape;184;p16"/>
          <p:cNvSpPr/>
          <p:nvPr/>
        </p:nvSpPr>
        <p:spPr>
          <a:xfrm>
            <a:off x="6486480" y="4098960"/>
            <a:ext cx="48956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9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Toleranz ±20%:</a:t>
            </a: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 Konservative Angabe inkl. Referenz-Toleranz (±10%), Widerstand (±1%) und Bauteilstreuung. Ermöglicht sichere Gut/Schlecht-Aussage.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89;p17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1" name="Google Shape;190;p17" descr="image.png"/>
          <p:cNvPicPr/>
          <p:nvPr/>
        </p:nvPicPr>
        <p:blipFill>
          <a:blip r:embed="rId2"/>
          <a:stretch/>
        </p:blipFill>
        <p:spPr>
          <a:xfrm>
            <a:off x="666720" y="1486080"/>
            <a:ext cx="6286320" cy="457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2" name="Google Shape;191;p17" descr="image.png"/>
          <p:cNvPicPr/>
          <p:nvPr/>
        </p:nvPicPr>
        <p:blipFill>
          <a:blip r:embed="rId3"/>
          <a:stretch/>
        </p:blipFill>
        <p:spPr>
          <a:xfrm>
            <a:off x="7334280" y="1486080"/>
            <a:ext cx="4190760" cy="1159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3" name="Google Shape;192;p17" descr="image.png"/>
          <p:cNvPicPr/>
          <p:nvPr/>
        </p:nvPicPr>
        <p:blipFill>
          <a:blip r:embed="rId4"/>
          <a:stretch/>
        </p:blipFill>
        <p:spPr>
          <a:xfrm>
            <a:off x="7334280" y="2788920"/>
            <a:ext cx="4190760" cy="1159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4" name="Google Shape;193;p17" descr="image.png"/>
          <p:cNvPicPr/>
          <p:nvPr/>
        </p:nvPicPr>
        <p:blipFill>
          <a:blip r:embed="rId5"/>
          <a:stretch/>
        </p:blipFill>
        <p:spPr>
          <a:xfrm>
            <a:off x="7334280" y="4091760"/>
            <a:ext cx="4190760" cy="1159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5" name="Google Shape;194;p17"/>
          <p:cNvSpPr/>
          <p:nvPr/>
        </p:nvSpPr>
        <p:spPr>
          <a:xfrm>
            <a:off x="1200240" y="476280"/>
            <a:ext cx="10841040" cy="54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2850" b="0" u="none" strike="noStrike">
                <a:solidFill>
                  <a:srgbClr val="0f172a"/>
                </a:solidFill>
                <a:effectLst/>
                <a:uFillTx/>
                <a:latin typeface="Poppins SemiBold"/>
                <a:ea typeface="Poppins SemiBold"/>
              </a:rPr>
              <a:t>Schaltungsentwurf &amp; System</a:t>
            </a:r>
            <a:endParaRPr lang="de-DE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Google Shape;195;p17"/>
          <p:cNvSpPr/>
          <p:nvPr/>
        </p:nvSpPr>
        <p:spPr>
          <a:xfrm>
            <a:off x="666720" y="1019160"/>
            <a:ext cx="458100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7" name="Google Shape;196;p17" descr="image.png"/>
          <p:cNvPicPr/>
          <p:nvPr/>
        </p:nvPicPr>
        <p:blipFill>
          <a:blip r:embed="rId6"/>
          <a:stretch/>
        </p:blipFill>
        <p:spPr>
          <a:xfrm>
            <a:off x="666720" y="595440"/>
            <a:ext cx="342720" cy="30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8" name="Google Shape;197;p17"/>
          <p:cNvSpPr/>
          <p:nvPr/>
        </p:nvSpPr>
        <p:spPr>
          <a:xfrm>
            <a:off x="7581960" y="1676520"/>
            <a:ext cx="394020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136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350" b="1" u="none" strike="noStrike">
                <a:solidFill>
                  <a:srgbClr val="1e293b"/>
                </a:solidFill>
                <a:effectLst/>
                <a:uFillTx/>
                <a:latin typeface="Poppins"/>
                <a:ea typeface="Poppins"/>
              </a:rPr>
              <a:t>Schutz &amp; Power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Google Shape;198;p17"/>
          <p:cNvSpPr/>
          <p:nvPr/>
        </p:nvSpPr>
        <p:spPr>
          <a:xfrm>
            <a:off x="7581960" y="1981080"/>
            <a:ext cx="375264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9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PMOS Verpolschutz; USB 5V Versorgung; Filterung durch Abblockkondensatoren am MCU.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Google Shape;199;p17"/>
          <p:cNvSpPr/>
          <p:nvPr/>
        </p:nvSpPr>
        <p:spPr>
          <a:xfrm>
            <a:off x="7581960" y="2979360"/>
            <a:ext cx="394020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5228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350" b="1" u="none" strike="noStrike">
                <a:solidFill>
                  <a:srgbClr val="1e293b"/>
                </a:solidFill>
                <a:effectLst/>
                <a:uFillTx/>
                <a:latin typeface="Poppins"/>
                <a:ea typeface="Poppins"/>
              </a:rPr>
              <a:t>Messpfad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Google Shape;200;p17"/>
          <p:cNvSpPr/>
          <p:nvPr/>
        </p:nvSpPr>
        <p:spPr>
          <a:xfrm>
            <a:off x="7581960" y="3283920"/>
            <a:ext cx="375264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9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LM317L Stromquelle; NMOS Entladepfad mit 470 Ω Widerstand (Strombegrenzung).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Google Shape;201;p17"/>
          <p:cNvSpPr/>
          <p:nvPr/>
        </p:nvSpPr>
        <p:spPr>
          <a:xfrm>
            <a:off x="7581960" y="4282200"/>
            <a:ext cx="394020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136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350" b="1" u="none" strike="noStrike">
                <a:solidFill>
                  <a:srgbClr val="1e293b"/>
                </a:solidFill>
                <a:effectLst/>
                <a:uFillTx/>
                <a:latin typeface="Poppins"/>
                <a:ea typeface="Poppins"/>
              </a:rPr>
              <a:t>Steuerung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Google Shape;202;p17"/>
          <p:cNvSpPr/>
          <p:nvPr/>
        </p:nvSpPr>
        <p:spPr>
          <a:xfrm>
            <a:off x="7581960" y="4586760"/>
            <a:ext cx="375264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9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ATmega328P-AU @ </a:t>
            </a:r>
            <a:r>
              <a:rPr lang="en-US" sz="1200" b="1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16 MHz Quarz</a:t>
            </a: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; 10 Testpunkte (JTP1-10) für Wartung/IBN.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4" name="Google Shape;203;p17" descr="image.png"/>
          <p:cNvPicPr/>
          <p:nvPr/>
        </p:nvPicPr>
        <p:blipFill>
          <a:blip r:embed="rId7"/>
          <a:stretch/>
        </p:blipFill>
        <p:spPr>
          <a:xfrm>
            <a:off x="7581960" y="1724040"/>
            <a:ext cx="171000" cy="171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5" name="Google Shape;204;p17" descr="image.png"/>
          <p:cNvPicPr/>
          <p:nvPr/>
        </p:nvPicPr>
        <p:blipFill>
          <a:blip r:embed="rId8"/>
          <a:stretch/>
        </p:blipFill>
        <p:spPr>
          <a:xfrm>
            <a:off x="7581960" y="3026880"/>
            <a:ext cx="151920" cy="171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6" name="Google Shape;205;p17" descr="image.png"/>
          <p:cNvPicPr/>
          <p:nvPr/>
        </p:nvPicPr>
        <p:blipFill>
          <a:blip r:embed="rId9"/>
          <a:stretch/>
        </p:blipFill>
        <p:spPr>
          <a:xfrm>
            <a:off x="7581960" y="4329720"/>
            <a:ext cx="171000" cy="171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210;p18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8" name="Google Shape;211;p18" descr="image.png"/>
          <p:cNvPicPr/>
          <p:nvPr/>
        </p:nvPicPr>
        <p:blipFill>
          <a:blip r:embed="rId2"/>
          <a:stretch/>
        </p:blipFill>
        <p:spPr>
          <a:xfrm>
            <a:off x="666720" y="1866960"/>
            <a:ext cx="5238360" cy="3809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9" name="Google Shape;212;p18" descr="image.png"/>
          <p:cNvPicPr/>
          <p:nvPr/>
        </p:nvPicPr>
        <p:blipFill>
          <a:blip r:embed="rId3"/>
          <a:stretch/>
        </p:blipFill>
        <p:spPr>
          <a:xfrm>
            <a:off x="6286680" y="1866960"/>
            <a:ext cx="5238360" cy="380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0" name="Google Shape;213;p18"/>
          <p:cNvSpPr/>
          <p:nvPr/>
        </p:nvSpPr>
        <p:spPr>
          <a:xfrm>
            <a:off x="1162080" y="476280"/>
            <a:ext cx="10881000" cy="54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2850" b="0" u="none" strike="noStrike">
                <a:solidFill>
                  <a:srgbClr val="0f172a"/>
                </a:solidFill>
                <a:effectLst/>
                <a:uFillTx/>
                <a:latin typeface="Poppins SemiBold"/>
                <a:ea typeface="Poppins SemiBold"/>
              </a:rPr>
              <a:t>V1 – Kritischer Planungsfehler</a:t>
            </a:r>
            <a:endParaRPr lang="de-DE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Google Shape;214;p18"/>
          <p:cNvSpPr/>
          <p:nvPr/>
        </p:nvSpPr>
        <p:spPr>
          <a:xfrm>
            <a:off x="666720" y="1019160"/>
            <a:ext cx="446688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2" name="Google Shape;215;p18" descr="image.png"/>
          <p:cNvPicPr/>
          <p:nvPr/>
        </p:nvPicPr>
        <p:blipFill>
          <a:blip r:embed="rId4"/>
          <a:stretch/>
        </p:blipFill>
        <p:spPr>
          <a:xfrm>
            <a:off x="666720" y="595440"/>
            <a:ext cx="304560" cy="30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3" name="Google Shape;216;p18"/>
          <p:cNvSpPr/>
          <p:nvPr/>
        </p:nvSpPr>
        <p:spPr>
          <a:xfrm>
            <a:off x="914400" y="2057400"/>
            <a:ext cx="504036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950" b="0" u="none" strike="noStrike">
                <a:solidFill>
                  <a:srgbClr val="ef4444"/>
                </a:solidFill>
                <a:effectLst/>
                <a:uFillTx/>
                <a:latin typeface="Poppins SemiBold"/>
                <a:ea typeface="Poppins SemiBold"/>
              </a:rPr>
              <a:t>Analyse Risiko R6</a:t>
            </a:r>
            <a:endParaRPr lang="de-DE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Google Shape;217;p18"/>
          <p:cNvSpPr/>
          <p:nvPr/>
        </p:nvSpPr>
        <p:spPr>
          <a:xfrm>
            <a:off x="914400" y="2610000"/>
            <a:ext cx="4800240" cy="25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lang="en-US" sz="1430" b="1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Symbol ≠ Footprint ≠ Real-Bauteil</a:t>
            </a:r>
            <a:endParaRPr lang="de-DE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Google Shape;218;p18"/>
          <p:cNvSpPr/>
          <p:nvPr/>
        </p:nvSpPr>
        <p:spPr>
          <a:xfrm>
            <a:off x="914400" y="3044160"/>
            <a:ext cx="4800240" cy="47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9000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KiCad-Symbol DIP-28 genutzt, aber physisch TQFP-32 bestellt. Folge: Komplette Fehlverdrahtung der 32 Pins auf dem PCB.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Google Shape;219;p18"/>
          <p:cNvSpPr/>
          <p:nvPr/>
        </p:nvSpPr>
        <p:spPr>
          <a:xfrm>
            <a:off x="1178280" y="3786120"/>
            <a:ext cx="10440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43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•</a:t>
            </a:r>
            <a:endParaRPr lang="de-DE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Google Shape;220;p18"/>
          <p:cNvSpPr/>
          <p:nvPr/>
        </p:nvSpPr>
        <p:spPr>
          <a:xfrm>
            <a:off x="1295280" y="3695400"/>
            <a:ext cx="4419360" cy="50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476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lang="en-US" sz="143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Keine Validierung gegen physikalisches Datenblatt vor PCB-Bestellung.</a:t>
            </a:r>
            <a:endParaRPr lang="de-DE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Google Shape;221;p18"/>
          <p:cNvSpPr/>
          <p:nvPr/>
        </p:nvSpPr>
        <p:spPr>
          <a:xfrm>
            <a:off x="1190520" y="4373280"/>
            <a:ext cx="10440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43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•</a:t>
            </a:r>
            <a:endParaRPr lang="de-DE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Google Shape;222;p18"/>
          <p:cNvSpPr/>
          <p:nvPr/>
        </p:nvSpPr>
        <p:spPr>
          <a:xfrm>
            <a:off x="1294920" y="4320000"/>
            <a:ext cx="4419360" cy="25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476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lang="en-US" sz="143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R20 (Entladewiderstand) fehlte in V1.</a:t>
            </a:r>
            <a:endParaRPr lang="de-DE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227;p19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1" name="Google Shape;228;p19" descr="image.png"/>
          <p:cNvPicPr/>
          <p:nvPr/>
        </p:nvPicPr>
        <p:blipFill>
          <a:blip r:embed="rId2"/>
          <a:stretch/>
        </p:blipFill>
        <p:spPr>
          <a:xfrm>
            <a:off x="666720" y="1673640"/>
            <a:ext cx="3492000" cy="1756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2" name="Google Shape;229;p19" descr="image.png"/>
          <p:cNvPicPr/>
          <p:nvPr/>
        </p:nvPicPr>
        <p:blipFill>
          <a:blip r:embed="rId3"/>
          <a:stretch/>
        </p:blipFill>
        <p:spPr>
          <a:xfrm>
            <a:off x="4349520" y="1673640"/>
            <a:ext cx="3492360" cy="1756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3" name="Google Shape;230;p19" descr="image.png"/>
          <p:cNvPicPr/>
          <p:nvPr/>
        </p:nvPicPr>
        <p:blipFill>
          <a:blip r:embed="rId4"/>
          <a:stretch/>
        </p:blipFill>
        <p:spPr>
          <a:xfrm>
            <a:off x="8032680" y="1673640"/>
            <a:ext cx="3492000" cy="1756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4" name="Google Shape;231;p19" descr="image.png"/>
          <p:cNvPicPr/>
          <p:nvPr/>
        </p:nvPicPr>
        <p:blipFill>
          <a:blip r:embed="rId5"/>
          <a:stretch/>
        </p:blipFill>
        <p:spPr>
          <a:xfrm>
            <a:off x="666720" y="3620520"/>
            <a:ext cx="3492000" cy="152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5" name="Google Shape;232;p19"/>
          <p:cNvSpPr/>
          <p:nvPr/>
        </p:nvSpPr>
        <p:spPr>
          <a:xfrm>
            <a:off x="1162080" y="476280"/>
            <a:ext cx="10881000" cy="54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2850" b="0" u="none" strike="noStrike">
                <a:solidFill>
                  <a:srgbClr val="0f172a"/>
                </a:solidFill>
                <a:effectLst/>
                <a:uFillTx/>
                <a:latin typeface="Poppins SemiBold"/>
                <a:ea typeface="Poppins SemiBold"/>
              </a:rPr>
              <a:t>V2 – Systematische Korrekturen</a:t>
            </a:r>
            <a:endParaRPr lang="de-DE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Google Shape;233;p19"/>
          <p:cNvSpPr/>
          <p:nvPr/>
        </p:nvSpPr>
        <p:spPr>
          <a:xfrm>
            <a:off x="666720" y="1019160"/>
            <a:ext cx="400032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7" name="Google Shape;234;p19" descr="image.png"/>
          <p:cNvPicPr/>
          <p:nvPr/>
        </p:nvPicPr>
        <p:blipFill>
          <a:blip r:embed="rId6"/>
          <a:stretch/>
        </p:blipFill>
        <p:spPr>
          <a:xfrm>
            <a:off x="666720" y="595440"/>
            <a:ext cx="304560" cy="30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8" name="Google Shape;235;p19"/>
          <p:cNvSpPr/>
          <p:nvPr/>
        </p:nvSpPr>
        <p:spPr>
          <a:xfrm>
            <a:off x="666720" y="5435640"/>
            <a:ext cx="10858320" cy="25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40000"/>
              </a:lnSpc>
              <a:tabLst>
                <a:tab algn="l" pos="0"/>
              </a:tabLst>
            </a:pPr>
            <a:r>
              <a:rPr lang="en-US" sz="1430" b="1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✓ DRC = 0 Fehler · Professionelles Bestückungsdruck-Layout</a:t>
            </a:r>
            <a:endParaRPr lang="de-DE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Google Shape;236;p19"/>
          <p:cNvSpPr/>
          <p:nvPr/>
        </p:nvSpPr>
        <p:spPr>
          <a:xfrm>
            <a:off x="914400" y="1864080"/>
            <a:ext cx="320652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950" b="0" u="none" strike="noStrike">
                <a:solidFill>
                  <a:srgbClr val="059669"/>
                </a:solidFill>
                <a:effectLst/>
                <a:uFillTx/>
                <a:latin typeface="Poppins SemiBold"/>
                <a:ea typeface="Poppins SemiBold"/>
              </a:rPr>
              <a:t>MCU FIX</a:t>
            </a:r>
            <a:endParaRPr lang="de-DE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Google Shape;237;p19"/>
          <p:cNvSpPr/>
          <p:nvPr/>
        </p:nvSpPr>
        <p:spPr>
          <a:xfrm>
            <a:off x="914400" y="2397600"/>
            <a:ext cx="3053880" cy="67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lang="en-US" sz="128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Korrektes TQFP-32 Footprint implementiert &amp; komplettes PCB-Routing neu konstruiert.</a:t>
            </a:r>
            <a:endParaRPr lang="de-DE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Google Shape;238;p19"/>
          <p:cNvSpPr/>
          <p:nvPr/>
        </p:nvSpPr>
        <p:spPr>
          <a:xfrm>
            <a:off x="4597200" y="1864080"/>
            <a:ext cx="320688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950" b="0" u="none" strike="noStrike">
                <a:solidFill>
                  <a:srgbClr val="059669"/>
                </a:solidFill>
                <a:effectLst/>
                <a:uFillTx/>
                <a:latin typeface="Poppins SemiBold"/>
                <a:ea typeface="Poppins SemiBold"/>
              </a:rPr>
              <a:t>BAUTEIL-GRUPPIERUNG</a:t>
            </a:r>
            <a:endParaRPr lang="de-DE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Google Shape;239;p19"/>
          <p:cNvSpPr/>
          <p:nvPr/>
        </p:nvSpPr>
        <p:spPr>
          <a:xfrm>
            <a:off x="4597200" y="2397600"/>
            <a:ext cx="3053880" cy="67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lang="en-US" sz="128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Logische Sortierung in Funktionsgruppen (Power, MCU, Messung) zur Störungsminimierung (EMV).</a:t>
            </a:r>
            <a:endParaRPr lang="de-DE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Google Shape;240;p19"/>
          <p:cNvSpPr/>
          <p:nvPr/>
        </p:nvSpPr>
        <p:spPr>
          <a:xfrm>
            <a:off x="8280360" y="1864080"/>
            <a:ext cx="320652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950" b="0" u="none" strike="noStrike">
                <a:solidFill>
                  <a:srgbClr val="059669"/>
                </a:solidFill>
                <a:effectLst/>
                <a:uFillTx/>
                <a:latin typeface="Poppins SemiBold"/>
                <a:ea typeface="Poppins SemiBold"/>
              </a:rPr>
              <a:t>ENTLADE-SCHUTZ</a:t>
            </a:r>
            <a:endParaRPr lang="de-DE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Google Shape;241;p19"/>
          <p:cNvSpPr/>
          <p:nvPr/>
        </p:nvSpPr>
        <p:spPr>
          <a:xfrm>
            <a:off x="8280360" y="2397600"/>
            <a:ext cx="3053880" cy="67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lang="en-US" sz="128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R20 (470 Ω) integriert. Schützt NMOS Q2 vor Entladestromspitzen bei großen Kapazitäten.</a:t>
            </a:r>
            <a:endParaRPr lang="de-DE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Google Shape;242;p19"/>
          <p:cNvSpPr/>
          <p:nvPr/>
        </p:nvSpPr>
        <p:spPr>
          <a:xfrm>
            <a:off x="914400" y="3810960"/>
            <a:ext cx="320652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950" b="0" u="none" strike="noStrike">
                <a:solidFill>
                  <a:srgbClr val="059669"/>
                </a:solidFill>
                <a:effectLst/>
                <a:uFillTx/>
                <a:latin typeface="Poppins SemiBold"/>
                <a:ea typeface="Poppins SemiBold"/>
              </a:rPr>
              <a:t>TESTPUNKTE</a:t>
            </a:r>
            <a:endParaRPr lang="de-DE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Google Shape;243;p19"/>
          <p:cNvSpPr/>
          <p:nvPr/>
        </p:nvSpPr>
        <p:spPr>
          <a:xfrm>
            <a:off x="914400" y="4344120"/>
            <a:ext cx="3053880" cy="4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lang="en-US" sz="128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Verbesserte JTP-Anordnung für optimale Zugänglichkeit bei Abnahme und Kontrolle.</a:t>
            </a:r>
            <a:endParaRPr lang="de-DE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248;p20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8" name="Google Shape;249;p20" descr="image.png"/>
          <p:cNvPicPr/>
          <p:nvPr/>
        </p:nvPicPr>
        <p:blipFill>
          <a:blip r:embed="rId2"/>
          <a:stretch/>
        </p:blipFill>
        <p:spPr>
          <a:xfrm>
            <a:off x="666720" y="1628640"/>
            <a:ext cx="5238360" cy="4285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9" name="Google Shape;250;p20"/>
          <p:cNvSpPr/>
          <p:nvPr/>
        </p:nvSpPr>
        <p:spPr>
          <a:xfrm>
            <a:off x="857160" y="476280"/>
            <a:ext cx="11201040" cy="54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2850" b="0" u="none" strike="noStrike">
                <a:solidFill>
                  <a:srgbClr val="0f172a"/>
                </a:solidFill>
                <a:effectLst/>
                <a:uFillTx/>
                <a:latin typeface="Poppins SemiBold"/>
                <a:ea typeface="Poppins SemiBold"/>
              </a:rPr>
              <a:t>Durchführung &amp; Bestückung</a:t>
            </a:r>
            <a:endParaRPr lang="de-DE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Google Shape;251;p20"/>
          <p:cNvSpPr/>
          <p:nvPr/>
        </p:nvSpPr>
        <p:spPr>
          <a:xfrm>
            <a:off x="666720" y="1019160"/>
            <a:ext cx="503820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Google Shape;252;p20"/>
          <p:cNvSpPr/>
          <p:nvPr/>
        </p:nvSpPr>
        <p:spPr>
          <a:xfrm>
            <a:off x="6286680" y="1628640"/>
            <a:ext cx="550044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950" b="0" u="none" strike="noStrike">
                <a:solidFill>
                  <a:srgbClr val="059669"/>
                </a:solidFill>
                <a:effectLst/>
                <a:uFillTx/>
                <a:latin typeface="Poppins SemiBold"/>
                <a:ea typeface="Poppins SemiBold"/>
              </a:rPr>
              <a:t>Fertigungs-Parameter</a:t>
            </a:r>
            <a:endParaRPr lang="de-DE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Google Shape;253;p20"/>
          <p:cNvSpPr/>
          <p:nvPr/>
        </p:nvSpPr>
        <p:spPr>
          <a:xfrm>
            <a:off x="6372360" y="2169720"/>
            <a:ext cx="10440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43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•</a:t>
            </a:r>
            <a:endParaRPr lang="de-DE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Google Shape;254;p20"/>
          <p:cNvSpPr/>
          <p:nvPr/>
        </p:nvSpPr>
        <p:spPr>
          <a:xfrm>
            <a:off x="6477120" y="2171880"/>
            <a:ext cx="5047920" cy="50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476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lang="en-US" sz="1430" b="1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IPC-A-610 Klasse 2:</a:t>
            </a:r>
            <a:r>
              <a:rPr lang="en-US" sz="143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 Abnahme-Standard für industrielle Elektronikfertigung.</a:t>
            </a:r>
            <a:endParaRPr lang="de-DE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Google Shape;255;p20"/>
          <p:cNvSpPr/>
          <p:nvPr/>
        </p:nvSpPr>
        <p:spPr>
          <a:xfrm>
            <a:off x="6372360" y="2676240"/>
            <a:ext cx="10440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43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•</a:t>
            </a:r>
            <a:endParaRPr lang="de-DE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Google Shape;256;p20"/>
          <p:cNvSpPr/>
          <p:nvPr/>
        </p:nvSpPr>
        <p:spPr>
          <a:xfrm>
            <a:off x="6477120" y="2678400"/>
            <a:ext cx="5047920" cy="50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476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lang="en-US" sz="1430" b="1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SMD-Handlötung:</a:t>
            </a:r>
            <a:r>
              <a:rPr lang="en-US" sz="143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 375 °C Löttemperatur; Fokus auf 0,8 mm Pin-Pitch des TQFP-32.</a:t>
            </a:r>
            <a:endParaRPr lang="de-DE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Google Shape;257;p20"/>
          <p:cNvSpPr/>
          <p:nvPr/>
        </p:nvSpPr>
        <p:spPr>
          <a:xfrm>
            <a:off x="6372360" y="3183120"/>
            <a:ext cx="10440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43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•</a:t>
            </a:r>
            <a:endParaRPr lang="de-DE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Google Shape;258;p20"/>
          <p:cNvSpPr/>
          <p:nvPr/>
        </p:nvSpPr>
        <p:spPr>
          <a:xfrm>
            <a:off x="6477120" y="3184920"/>
            <a:ext cx="5047920" cy="50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476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lang="en-US" sz="1430" b="1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Bauteilfolge:</a:t>
            </a:r>
            <a:r>
              <a:rPr lang="en-US" sz="143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 Passiv (0805) → SMD-ICs → THT-Komponenten (Stecker, LEDs).</a:t>
            </a:r>
            <a:endParaRPr lang="de-DE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Google Shape;259;p20"/>
          <p:cNvSpPr/>
          <p:nvPr/>
        </p:nvSpPr>
        <p:spPr>
          <a:xfrm>
            <a:off x="6372360" y="3689640"/>
            <a:ext cx="10440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43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•</a:t>
            </a:r>
            <a:endParaRPr lang="de-DE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Google Shape;260;p20"/>
          <p:cNvSpPr/>
          <p:nvPr/>
        </p:nvSpPr>
        <p:spPr>
          <a:xfrm>
            <a:off x="6477120" y="3691440"/>
            <a:ext cx="5047920" cy="50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476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lang="en-US" sz="1430" b="1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QC:</a:t>
            </a:r>
            <a:r>
              <a:rPr lang="en-US" sz="143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 Sichtprüfung unter Mikroskop auf Brücken &amp; Kaltlötstellen.</a:t>
            </a:r>
            <a:endParaRPr lang="de-DE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65;p2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1" name="Google Shape;266;p21" descr="image.png"/>
          <p:cNvPicPr/>
          <p:nvPr/>
        </p:nvPicPr>
        <p:blipFill>
          <a:blip r:embed="rId2"/>
          <a:stretch/>
        </p:blipFill>
        <p:spPr>
          <a:xfrm>
            <a:off x="666720" y="3969720"/>
            <a:ext cx="10858320" cy="1114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2" name="Google Shape;267;p21" descr="image.png"/>
          <p:cNvPicPr/>
          <p:nvPr/>
        </p:nvPicPr>
        <p:blipFill>
          <a:blip r:embed="rId3"/>
          <a:stretch/>
        </p:blipFill>
        <p:spPr>
          <a:xfrm>
            <a:off x="666720" y="2630880"/>
            <a:ext cx="5357520" cy="1195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3" name="Google Shape;268;p21" descr="image.png"/>
          <p:cNvPicPr/>
          <p:nvPr/>
        </p:nvPicPr>
        <p:blipFill>
          <a:blip r:embed="rId4"/>
          <a:stretch/>
        </p:blipFill>
        <p:spPr>
          <a:xfrm>
            <a:off x="6167520" y="2630880"/>
            <a:ext cx="5357520" cy="1195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4" name="Google Shape;269;p21"/>
          <p:cNvSpPr/>
          <p:nvPr/>
        </p:nvSpPr>
        <p:spPr>
          <a:xfrm>
            <a:off x="1238400" y="476280"/>
            <a:ext cx="10801080" cy="54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2850" b="0" u="none" strike="noStrike">
                <a:solidFill>
                  <a:srgbClr val="0f172a"/>
                </a:solidFill>
                <a:effectLst/>
                <a:uFillTx/>
                <a:latin typeface="Poppins SemiBold"/>
                <a:ea typeface="Poppins SemiBold"/>
              </a:rPr>
              <a:t>Firmware-Highlights (v3.5)</a:t>
            </a:r>
            <a:endParaRPr lang="de-DE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Google Shape;270;p21"/>
          <p:cNvSpPr/>
          <p:nvPr/>
        </p:nvSpPr>
        <p:spPr>
          <a:xfrm>
            <a:off x="666720" y="1019160"/>
            <a:ext cx="481932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6" name="Google Shape;271;p21" descr="image.png"/>
          <p:cNvPicPr/>
          <p:nvPr/>
        </p:nvPicPr>
        <p:blipFill>
          <a:blip r:embed="rId5"/>
          <a:stretch/>
        </p:blipFill>
        <p:spPr>
          <a:xfrm>
            <a:off x="666720" y="595440"/>
            <a:ext cx="380520" cy="30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7" name="Google Shape;272;p21"/>
          <p:cNvSpPr/>
          <p:nvPr/>
        </p:nvSpPr>
        <p:spPr>
          <a:xfrm>
            <a:off x="838080" y="4227120"/>
            <a:ext cx="4171680" cy="59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87000"/>
              </a:lnSpc>
              <a:tabLst>
                <a:tab algn="l" pos="0"/>
              </a:tabLst>
            </a:pPr>
            <a:r>
              <a:rPr lang="en-US" sz="1130" b="1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U_DELTA Kompensation:</a:t>
            </a:r>
            <a:br>
              <a:rPr sz="1800"/>
            </a:br>
            <a:r>
              <a:rPr lang="en-US" sz="113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 Mathematische Korrektur der Restspannung nach Entladung (V2-Fix).</a:t>
            </a:r>
            <a:endParaRPr lang="de-DE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Google Shape;273;p21"/>
          <p:cNvSpPr/>
          <p:nvPr/>
        </p:nvSpPr>
        <p:spPr>
          <a:xfrm>
            <a:off x="5153040" y="4227120"/>
            <a:ext cx="6257520" cy="59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87000"/>
              </a:lnSpc>
              <a:tabLst>
                <a:tab algn="l" pos="0"/>
              </a:tabLst>
            </a:pPr>
            <a:r>
              <a:rPr lang="en-US" sz="1130" b="1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Kino-Timing:</a:t>
            </a:r>
            <a:br>
              <a:rPr sz="1800"/>
            </a:br>
            <a:r>
              <a:rPr lang="en-US" sz="113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 Flackerfreie UI-Animation, dynamisch angepasst an Ladekurve (220 ms - 450 ms).</a:t>
            </a:r>
            <a:endParaRPr lang="de-DE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Google Shape;274;p21"/>
          <p:cNvSpPr/>
          <p:nvPr/>
        </p:nvSpPr>
        <p:spPr>
          <a:xfrm>
            <a:off x="666720" y="2459520"/>
            <a:ext cx="535752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820" b="1" u="none" strike="noStrike">
                <a:solidFill>
                  <a:srgbClr val="10b981"/>
                </a:solidFill>
                <a:effectLst/>
                <a:uFillTx/>
                <a:latin typeface="Lato"/>
                <a:ea typeface="Lato"/>
              </a:rPr>
              <a:t>2-AUS-3 PLAUSIBILITÄTSFILTER</a:t>
            </a:r>
            <a:endParaRPr lang="de-DE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Google Shape;275;p21"/>
          <p:cNvSpPr/>
          <p:nvPr/>
        </p:nvSpPr>
        <p:spPr>
          <a:xfrm>
            <a:off x="6167520" y="2459520"/>
            <a:ext cx="535752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820" b="1" u="none" strike="noStrike">
                <a:solidFill>
                  <a:srgbClr val="10b981"/>
                </a:solidFill>
                <a:effectLst/>
                <a:uFillTx/>
                <a:latin typeface="Lato"/>
                <a:ea typeface="Lato"/>
              </a:rPr>
              <a:t>PRÄZISES HARDWARE-POLLING</a:t>
            </a:r>
            <a:endParaRPr lang="de-DE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Google Shape;276;p21"/>
          <p:cNvSpPr/>
          <p:nvPr/>
        </p:nvSpPr>
        <p:spPr>
          <a:xfrm>
            <a:off x="819000" y="2783520"/>
            <a:ext cx="60912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38bdf8"/>
                </a:solidFill>
                <a:effectLst/>
                <a:uFillTx/>
                <a:latin typeface="Azeret Mono"/>
                <a:ea typeface="Azeret Mono"/>
              </a:rPr>
              <a:t>uint32_t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Google Shape;277;p21"/>
          <p:cNvSpPr/>
          <p:nvPr/>
        </p:nvSpPr>
        <p:spPr>
          <a:xfrm>
            <a:off x="2190600" y="2783520"/>
            <a:ext cx="60912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38bdf8"/>
                </a:solidFill>
                <a:effectLst/>
                <a:uFillTx/>
                <a:latin typeface="Azeret Mono"/>
                <a:ea typeface="Azeret Mono"/>
              </a:rPr>
              <a:t>uint32_t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Google Shape;278;p21"/>
          <p:cNvSpPr/>
          <p:nvPr/>
        </p:nvSpPr>
        <p:spPr>
          <a:xfrm>
            <a:off x="971640" y="3080520"/>
            <a:ext cx="205704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lang="en-US" sz="900" b="0" i="1" u="none" strike="noStrike">
                <a:solidFill>
                  <a:srgbClr val="64748b"/>
                </a:solidFill>
                <a:effectLst/>
                <a:uFillTx/>
                <a:latin typeface="Azeret Mono"/>
                <a:ea typeface="Azeret Mono"/>
              </a:rPr>
              <a:t>// Filtert Ausreißer (±15%)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Google Shape;279;p21"/>
          <p:cNvSpPr/>
          <p:nvPr/>
        </p:nvSpPr>
        <p:spPr>
          <a:xfrm>
            <a:off x="971640" y="3228840"/>
            <a:ext cx="15192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38bdf8"/>
                </a:solidFill>
                <a:effectLst/>
                <a:uFillTx/>
                <a:latin typeface="Azeret Mono"/>
                <a:ea typeface="Azeret Mono"/>
              </a:rPr>
              <a:t>if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Google Shape;280;p21"/>
          <p:cNvSpPr/>
          <p:nvPr/>
        </p:nvSpPr>
        <p:spPr>
          <a:xfrm>
            <a:off x="2724120" y="3228840"/>
            <a:ext cx="45684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38bdf8"/>
                </a:solidFill>
                <a:effectLst/>
                <a:uFillTx/>
                <a:latin typeface="Azeret Mono"/>
                <a:ea typeface="Azeret Mono"/>
              </a:rPr>
              <a:t>return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Google Shape;281;p21"/>
          <p:cNvSpPr/>
          <p:nvPr/>
        </p:nvSpPr>
        <p:spPr>
          <a:xfrm>
            <a:off x="971640" y="3377520"/>
            <a:ext cx="15192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38bdf8"/>
                </a:solidFill>
                <a:effectLst/>
                <a:uFillTx/>
                <a:latin typeface="Azeret Mono"/>
                <a:ea typeface="Azeret Mono"/>
              </a:rPr>
              <a:t>if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Google Shape;282;p21"/>
          <p:cNvSpPr/>
          <p:nvPr/>
        </p:nvSpPr>
        <p:spPr>
          <a:xfrm>
            <a:off x="1657440" y="3377520"/>
            <a:ext cx="45684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38bdf8"/>
                </a:solidFill>
                <a:effectLst/>
                <a:uFillTx/>
                <a:latin typeface="Azeret Mono"/>
                <a:ea typeface="Azeret Mono"/>
              </a:rPr>
              <a:t>return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Google Shape;283;p21"/>
          <p:cNvSpPr/>
          <p:nvPr/>
        </p:nvSpPr>
        <p:spPr>
          <a:xfrm>
            <a:off x="6319800" y="2931840"/>
            <a:ext cx="15192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38bdf8"/>
                </a:solidFill>
                <a:effectLst/>
                <a:uFillTx/>
                <a:latin typeface="Azeret Mono"/>
                <a:ea typeface="Azeret Mono"/>
              </a:rPr>
              <a:t>do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Google Shape;284;p21"/>
          <p:cNvSpPr/>
          <p:nvPr/>
        </p:nvSpPr>
        <p:spPr>
          <a:xfrm>
            <a:off x="6472080" y="3228840"/>
            <a:ext cx="15192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38bdf8"/>
                </a:solidFill>
                <a:effectLst/>
                <a:uFillTx/>
                <a:latin typeface="Azeret Mono"/>
                <a:ea typeface="Azeret Mono"/>
              </a:rPr>
              <a:t>if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Google Shape;285;p21"/>
          <p:cNvSpPr/>
          <p:nvPr/>
        </p:nvSpPr>
        <p:spPr>
          <a:xfrm>
            <a:off x="7539120" y="3228840"/>
            <a:ext cx="38052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38bdf8"/>
                </a:solidFill>
                <a:effectLst/>
                <a:uFillTx/>
                <a:latin typeface="Azeret Mono"/>
                <a:ea typeface="Azeret Mono"/>
              </a:rPr>
              <a:t>break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Google Shape;286;p21"/>
          <p:cNvSpPr/>
          <p:nvPr/>
        </p:nvSpPr>
        <p:spPr>
          <a:xfrm>
            <a:off x="6472080" y="3377520"/>
            <a:ext cx="38052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38bdf8"/>
                </a:solidFill>
                <a:effectLst/>
                <a:uFillTx/>
                <a:latin typeface="Azeret Mono"/>
                <a:ea typeface="Azeret Mono"/>
              </a:rPr>
              <a:t>while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91;p22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3" name="Google Shape;292;p22" descr="image.png"/>
          <p:cNvPicPr/>
          <p:nvPr/>
        </p:nvPicPr>
        <p:blipFill>
          <a:blip r:embed="rId2"/>
          <a:stretch/>
        </p:blipFill>
        <p:spPr>
          <a:xfrm>
            <a:off x="666720" y="4874760"/>
            <a:ext cx="5357520" cy="563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4" name="Google Shape;293;p22" descr="image.png"/>
          <p:cNvPicPr/>
          <p:nvPr/>
        </p:nvPicPr>
        <p:blipFill>
          <a:blip r:embed="rId3"/>
          <a:stretch/>
        </p:blipFill>
        <p:spPr>
          <a:xfrm>
            <a:off x="6167520" y="4874760"/>
            <a:ext cx="5357520" cy="56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5" name="Google Shape;294;p22"/>
          <p:cNvSpPr/>
          <p:nvPr/>
        </p:nvSpPr>
        <p:spPr>
          <a:xfrm>
            <a:off x="1162080" y="476280"/>
            <a:ext cx="10881000" cy="54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2850" b="0" u="none" strike="noStrike">
                <a:solidFill>
                  <a:srgbClr val="0f172a"/>
                </a:solidFill>
                <a:effectLst/>
                <a:uFillTx/>
                <a:latin typeface="Poppins SemiBold"/>
                <a:ea typeface="Poppins SemiBold"/>
              </a:rPr>
              <a:t>Messprotokoll &amp; Validierung</a:t>
            </a:r>
            <a:endParaRPr lang="de-DE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Google Shape;295;p22"/>
          <p:cNvSpPr/>
          <p:nvPr/>
        </p:nvSpPr>
        <p:spPr>
          <a:xfrm>
            <a:off x="666720" y="1019160"/>
            <a:ext cx="474300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7" name="Google Shape;296;p22" descr="image.png"/>
          <p:cNvPicPr/>
          <p:nvPr/>
        </p:nvPicPr>
        <p:blipFill>
          <a:blip r:embed="rId4"/>
          <a:stretch/>
        </p:blipFill>
        <p:spPr>
          <a:xfrm>
            <a:off x="666720" y="595440"/>
            <a:ext cx="304560" cy="30456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238" name="Google Shape;297;p22"/>
          <p:cNvGraphicFramePr/>
          <p:nvPr/>
        </p:nvGraphicFramePr>
        <p:xfrm>
          <a:off x="666720" y="2105280"/>
          <a:ext cx="10839240" cy="2626560"/>
        </p:xfrm>
        <a:graphic>
          <a:graphicData uri="http://schemas.openxmlformats.org/drawingml/2006/table">
            <a:tbl>
              <a:tblPr/>
              <a:tblGrid>
                <a:gridCol w="2769840"/>
                <a:gridCol w="2935800"/>
                <a:gridCol w="2788200"/>
                <a:gridCol w="2345040"/>
              </a:tblGrid>
              <a:tr h="437760"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80" b="1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DUT (Nennwert)</a:t>
                      </a:r>
                      <a:endParaRPr lang="de-DE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80" b="1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Toleranz ±20%</a:t>
                      </a:r>
                      <a:endParaRPr lang="de-DE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80" b="1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Referenz (DMM)</a:t>
                      </a:r>
                      <a:endParaRPr lang="de-DE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80" b="1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KapTester V2</a:t>
                      </a:r>
                      <a:endParaRPr lang="de-DE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437760"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80" b="1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10 µF</a:t>
                      </a:r>
                      <a:endParaRPr lang="de-DE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80" b="0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8 – 12 µF</a:t>
                      </a:r>
                      <a:endParaRPr lang="de-DE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80" b="0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[Daten]</a:t>
                      </a:r>
                      <a:endParaRPr lang="de-DE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80" b="0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[Daten] µF</a:t>
                      </a:r>
                      <a:endParaRPr lang="de-DE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7760"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80" b="1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100 µF</a:t>
                      </a:r>
                      <a:endParaRPr lang="de-DE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80" b="0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80 – 120 µF</a:t>
                      </a:r>
                      <a:endParaRPr lang="de-DE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80" b="0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104,2 µF</a:t>
                      </a:r>
                      <a:endParaRPr lang="de-DE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80" b="0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[Daten] µF</a:t>
                      </a:r>
                      <a:endParaRPr lang="de-DE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7760"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80" b="1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1.000 µF</a:t>
                      </a:r>
                      <a:endParaRPr lang="de-DE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80" b="0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800 – 1.200 µF</a:t>
                      </a:r>
                      <a:endParaRPr lang="de-DE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80" b="0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985,0 µF</a:t>
                      </a:r>
                      <a:endParaRPr lang="de-DE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80" b="0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[Daten] µF</a:t>
                      </a:r>
                      <a:endParaRPr lang="de-DE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7760"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80" b="1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4.700 µF</a:t>
                      </a:r>
                      <a:endParaRPr lang="de-DE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80" b="0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3.760 – 5.640 µF</a:t>
                      </a:r>
                      <a:endParaRPr lang="de-DE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80" b="0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4.620,0 µF</a:t>
                      </a:r>
                      <a:endParaRPr lang="de-DE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80" b="0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[Daten] µF</a:t>
                      </a:r>
                      <a:endParaRPr lang="de-DE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7760"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80" b="1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10.000 µF</a:t>
                      </a:r>
                      <a:endParaRPr lang="de-DE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80" b="0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8.000 – 12.000 µF</a:t>
                      </a:r>
                      <a:endParaRPr lang="de-DE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80" b="0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9.450,0 µF</a:t>
                      </a:r>
                      <a:endParaRPr lang="de-DE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80" b="0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Lato"/>
                          <a:ea typeface="Lato"/>
                        </a:rPr>
                        <a:t>[Daten] µF</a:t>
                      </a:r>
                      <a:endParaRPr lang="de-DE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9" name="Google Shape;298;p22"/>
          <p:cNvSpPr/>
          <p:nvPr/>
        </p:nvSpPr>
        <p:spPr>
          <a:xfrm>
            <a:off x="676440" y="2570040"/>
            <a:ext cx="2769480" cy="1872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360" bIns="936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Google Shape;299;p22"/>
          <p:cNvSpPr/>
          <p:nvPr/>
        </p:nvSpPr>
        <p:spPr>
          <a:xfrm>
            <a:off x="3446280" y="2570040"/>
            <a:ext cx="2935440" cy="1872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360" bIns="936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Google Shape;300;p22"/>
          <p:cNvSpPr/>
          <p:nvPr/>
        </p:nvSpPr>
        <p:spPr>
          <a:xfrm>
            <a:off x="6382080" y="2570040"/>
            <a:ext cx="2787840" cy="1872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360" bIns="936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Google Shape;301;p22"/>
          <p:cNvSpPr/>
          <p:nvPr/>
        </p:nvSpPr>
        <p:spPr>
          <a:xfrm>
            <a:off x="9170280" y="2570040"/>
            <a:ext cx="2345040" cy="1872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360" bIns="936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Google Shape;302;p22"/>
          <p:cNvSpPr/>
          <p:nvPr/>
        </p:nvSpPr>
        <p:spPr>
          <a:xfrm>
            <a:off x="676440" y="3006000"/>
            <a:ext cx="2769480" cy="900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Google Shape;303;p22"/>
          <p:cNvSpPr/>
          <p:nvPr/>
        </p:nvSpPr>
        <p:spPr>
          <a:xfrm>
            <a:off x="3446280" y="3006000"/>
            <a:ext cx="2935440" cy="900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Google Shape;304;p22"/>
          <p:cNvSpPr/>
          <p:nvPr/>
        </p:nvSpPr>
        <p:spPr>
          <a:xfrm>
            <a:off x="6382080" y="3006000"/>
            <a:ext cx="2787840" cy="900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Google Shape;305;p22"/>
          <p:cNvSpPr/>
          <p:nvPr/>
        </p:nvSpPr>
        <p:spPr>
          <a:xfrm>
            <a:off x="9170280" y="3006000"/>
            <a:ext cx="2345040" cy="900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Google Shape;306;p22"/>
          <p:cNvSpPr/>
          <p:nvPr/>
        </p:nvSpPr>
        <p:spPr>
          <a:xfrm>
            <a:off x="676440" y="3432960"/>
            <a:ext cx="2769480" cy="900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Google Shape;307;p22"/>
          <p:cNvSpPr/>
          <p:nvPr/>
        </p:nvSpPr>
        <p:spPr>
          <a:xfrm>
            <a:off x="3446280" y="3432960"/>
            <a:ext cx="2935440" cy="900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Google Shape;308;p22"/>
          <p:cNvSpPr/>
          <p:nvPr/>
        </p:nvSpPr>
        <p:spPr>
          <a:xfrm>
            <a:off x="6382080" y="3432960"/>
            <a:ext cx="2787840" cy="900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Google Shape;309;p22"/>
          <p:cNvSpPr/>
          <p:nvPr/>
        </p:nvSpPr>
        <p:spPr>
          <a:xfrm>
            <a:off x="9170280" y="3432960"/>
            <a:ext cx="2345040" cy="900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Google Shape;310;p22"/>
          <p:cNvSpPr/>
          <p:nvPr/>
        </p:nvSpPr>
        <p:spPr>
          <a:xfrm>
            <a:off x="676440" y="3859560"/>
            <a:ext cx="2769480" cy="900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Google Shape;311;p22"/>
          <p:cNvSpPr/>
          <p:nvPr/>
        </p:nvSpPr>
        <p:spPr>
          <a:xfrm>
            <a:off x="3446280" y="3859560"/>
            <a:ext cx="2935440" cy="900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Google Shape;312;p22"/>
          <p:cNvSpPr/>
          <p:nvPr/>
        </p:nvSpPr>
        <p:spPr>
          <a:xfrm>
            <a:off x="6382080" y="3859560"/>
            <a:ext cx="2787840" cy="900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Google Shape;313;p22"/>
          <p:cNvSpPr/>
          <p:nvPr/>
        </p:nvSpPr>
        <p:spPr>
          <a:xfrm>
            <a:off x="9170280" y="3859560"/>
            <a:ext cx="2345040" cy="900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Google Shape;314;p22"/>
          <p:cNvSpPr/>
          <p:nvPr/>
        </p:nvSpPr>
        <p:spPr>
          <a:xfrm>
            <a:off x="676440" y="4286160"/>
            <a:ext cx="2769480" cy="900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Google Shape;315;p22"/>
          <p:cNvSpPr/>
          <p:nvPr/>
        </p:nvSpPr>
        <p:spPr>
          <a:xfrm>
            <a:off x="3446280" y="4286160"/>
            <a:ext cx="2935440" cy="900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Google Shape;316;p22"/>
          <p:cNvSpPr/>
          <p:nvPr/>
        </p:nvSpPr>
        <p:spPr>
          <a:xfrm>
            <a:off x="6382080" y="4286160"/>
            <a:ext cx="2787840" cy="900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Google Shape;317;p22"/>
          <p:cNvSpPr/>
          <p:nvPr/>
        </p:nvSpPr>
        <p:spPr>
          <a:xfrm>
            <a:off x="9170280" y="4286160"/>
            <a:ext cx="2345040" cy="900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Google Shape;318;p22"/>
          <p:cNvSpPr/>
          <p:nvPr/>
        </p:nvSpPr>
        <p:spPr>
          <a:xfrm>
            <a:off x="676440" y="4713120"/>
            <a:ext cx="2769480" cy="900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Google Shape;319;p22"/>
          <p:cNvSpPr/>
          <p:nvPr/>
        </p:nvSpPr>
        <p:spPr>
          <a:xfrm>
            <a:off x="3446280" y="4713120"/>
            <a:ext cx="2935440" cy="900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Google Shape;320;p22"/>
          <p:cNvSpPr/>
          <p:nvPr/>
        </p:nvSpPr>
        <p:spPr>
          <a:xfrm>
            <a:off x="6382080" y="4713120"/>
            <a:ext cx="2787840" cy="900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Google Shape;321;p22"/>
          <p:cNvSpPr/>
          <p:nvPr/>
        </p:nvSpPr>
        <p:spPr>
          <a:xfrm>
            <a:off x="9170280" y="4713120"/>
            <a:ext cx="2345040" cy="900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Google Shape;322;p22"/>
          <p:cNvSpPr/>
          <p:nvPr/>
        </p:nvSpPr>
        <p:spPr>
          <a:xfrm>
            <a:off x="819000" y="4970160"/>
            <a:ext cx="5109840" cy="37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JTP1-10 Analyse:</a:t>
            </a: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 JTP1: 5,05V (USB); JTP4: 4,45V (LM317); JTP6: 1,1V (ADC); JTP10: 5V (Disch_ON).</a:t>
            </a:r>
            <a:endParaRPr lang="de-D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Google Shape;323;p22"/>
          <p:cNvSpPr/>
          <p:nvPr/>
        </p:nvSpPr>
        <p:spPr>
          <a:xfrm>
            <a:off x="6319800" y="4970160"/>
            <a:ext cx="5109840" cy="18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Ergebnis:</a:t>
            </a: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 Deterministische Messung &amp; Entladung erfolgreich validiert.</a:t>
            </a:r>
            <a:endParaRPr lang="de-D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328;p23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6" name="Google Shape;329;p23" descr="image.png"/>
          <p:cNvPicPr/>
          <p:nvPr/>
        </p:nvPicPr>
        <p:blipFill>
          <a:blip r:embed="rId2"/>
          <a:stretch/>
        </p:blipFill>
        <p:spPr>
          <a:xfrm>
            <a:off x="666720" y="2620800"/>
            <a:ext cx="5238360" cy="231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7" name="Google Shape;330;p23" descr="image.png"/>
          <p:cNvPicPr/>
          <p:nvPr/>
        </p:nvPicPr>
        <p:blipFill>
          <a:blip r:embed="rId3"/>
          <a:stretch/>
        </p:blipFill>
        <p:spPr>
          <a:xfrm>
            <a:off x="6286680" y="2614680"/>
            <a:ext cx="5238360" cy="2314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8" name="Google Shape;331;p23"/>
          <p:cNvSpPr/>
          <p:nvPr/>
        </p:nvSpPr>
        <p:spPr>
          <a:xfrm>
            <a:off x="1238400" y="476280"/>
            <a:ext cx="10801080" cy="54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2850" b="0" u="none" strike="noStrike">
                <a:solidFill>
                  <a:srgbClr val="0f172a"/>
                </a:solidFill>
                <a:effectLst/>
                <a:uFillTx/>
                <a:latin typeface="Poppins SemiBold"/>
                <a:ea typeface="Poppins SemiBold"/>
              </a:rPr>
              <a:t>Fazit &amp; Selbstreflexion</a:t>
            </a:r>
            <a:endParaRPr lang="de-DE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Google Shape;332;p23"/>
          <p:cNvSpPr/>
          <p:nvPr/>
        </p:nvSpPr>
        <p:spPr>
          <a:xfrm>
            <a:off x="666720" y="1019160"/>
            <a:ext cx="584784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0" name="Google Shape;333;p23" descr="image.png"/>
          <p:cNvPicPr/>
          <p:nvPr/>
        </p:nvPicPr>
        <p:blipFill>
          <a:blip r:embed="rId4"/>
          <a:stretch/>
        </p:blipFill>
        <p:spPr>
          <a:xfrm>
            <a:off x="666720" y="595440"/>
            <a:ext cx="380520" cy="30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1" name="Google Shape;334;p23"/>
          <p:cNvSpPr/>
          <p:nvPr/>
        </p:nvSpPr>
        <p:spPr>
          <a:xfrm>
            <a:off x="905040" y="2941560"/>
            <a:ext cx="9396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430" b="0" u="none" strike="noStrike">
                <a:solidFill>
                  <a:srgbClr val="1e293b"/>
                </a:solidFill>
                <a:effectLst/>
                <a:uFillTx/>
                <a:latin typeface="Poppins SemiBold"/>
                <a:ea typeface="Poppins SemiBold"/>
              </a:rPr>
              <a:t>Learnings</a:t>
            </a:r>
            <a:endParaRPr lang="de-DE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Google Shape;335;p23"/>
          <p:cNvSpPr/>
          <p:nvPr/>
        </p:nvSpPr>
        <p:spPr>
          <a:xfrm>
            <a:off x="6524640" y="2814840"/>
            <a:ext cx="85968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430" b="0" u="none" strike="noStrike">
                <a:solidFill>
                  <a:srgbClr val="1e293b"/>
                </a:solidFill>
                <a:effectLst/>
                <a:uFillTx/>
                <a:latin typeface="Poppins SemiBold"/>
                <a:ea typeface="Poppins SemiBold"/>
              </a:rPr>
              <a:t>Reflexion</a:t>
            </a:r>
            <a:endParaRPr lang="de-DE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Google Shape;336;p23"/>
          <p:cNvSpPr/>
          <p:nvPr/>
        </p:nvSpPr>
        <p:spPr>
          <a:xfrm>
            <a:off x="991080" y="3523320"/>
            <a:ext cx="10440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43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•</a:t>
            </a:r>
            <a:endParaRPr lang="de-DE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Google Shape;337;p23"/>
          <p:cNvSpPr/>
          <p:nvPr/>
        </p:nvSpPr>
        <p:spPr>
          <a:xfrm>
            <a:off x="1095480" y="3427200"/>
            <a:ext cx="3590640" cy="25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476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lang="en-US" sz="1430" b="1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KiCad:</a:t>
            </a:r>
            <a:r>
              <a:rPr lang="en-US" sz="143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 Routing &amp; Footprint-Validierung.</a:t>
            </a:r>
            <a:endParaRPr lang="de-DE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Google Shape;338;p23"/>
          <p:cNvSpPr/>
          <p:nvPr/>
        </p:nvSpPr>
        <p:spPr>
          <a:xfrm>
            <a:off x="991080" y="3780000"/>
            <a:ext cx="10440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43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•</a:t>
            </a:r>
            <a:endParaRPr lang="de-DE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Google Shape;339;p23"/>
          <p:cNvSpPr/>
          <p:nvPr/>
        </p:nvSpPr>
        <p:spPr>
          <a:xfrm>
            <a:off x="1095480" y="3680640"/>
            <a:ext cx="3590640" cy="25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476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lang="en-US" sz="1430" b="1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SMD:</a:t>
            </a:r>
            <a:r>
              <a:rPr lang="en-US" sz="143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 Bestückung von TQFP-32 &amp; 0805.</a:t>
            </a:r>
            <a:endParaRPr lang="de-DE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Google Shape;340;p23"/>
          <p:cNvSpPr/>
          <p:nvPr/>
        </p:nvSpPr>
        <p:spPr>
          <a:xfrm>
            <a:off x="997200" y="4036680"/>
            <a:ext cx="10440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43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•</a:t>
            </a:r>
            <a:endParaRPr lang="de-DE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Google Shape;341;p23"/>
          <p:cNvSpPr/>
          <p:nvPr/>
        </p:nvSpPr>
        <p:spPr>
          <a:xfrm>
            <a:off x="1113840" y="3960000"/>
            <a:ext cx="394452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476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lang="en-US" sz="1430" b="1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Embedded:</a:t>
            </a:r>
            <a:r>
              <a:rPr lang="en-US" sz="143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 ATmega Hardware-Timer &amp; ADC.</a:t>
            </a:r>
            <a:endParaRPr lang="de-DE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Google Shape;342;p23"/>
          <p:cNvSpPr/>
          <p:nvPr/>
        </p:nvSpPr>
        <p:spPr>
          <a:xfrm>
            <a:off x="990720" y="4320000"/>
            <a:ext cx="10440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43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•</a:t>
            </a:r>
            <a:endParaRPr lang="de-DE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Google Shape;343;p23"/>
          <p:cNvSpPr/>
          <p:nvPr/>
        </p:nvSpPr>
        <p:spPr>
          <a:xfrm>
            <a:off x="1101600" y="4226400"/>
            <a:ext cx="359064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476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lang="en-US" sz="1430" b="1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Coding:</a:t>
            </a:r>
            <a:r>
              <a:rPr lang="en-US" sz="143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 C-Systemdesign (Modularität).</a:t>
            </a:r>
            <a:endParaRPr lang="de-DE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Google Shape;344;p23"/>
          <p:cNvSpPr/>
          <p:nvPr/>
        </p:nvSpPr>
        <p:spPr>
          <a:xfrm>
            <a:off x="6610680" y="3343320"/>
            <a:ext cx="10440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43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•</a:t>
            </a:r>
            <a:endParaRPr lang="de-DE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Google Shape;345;p23"/>
          <p:cNvSpPr/>
          <p:nvPr/>
        </p:nvSpPr>
        <p:spPr>
          <a:xfrm>
            <a:off x="6715080" y="3300480"/>
            <a:ext cx="4609800" cy="25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476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lang="en-US" sz="1430" b="1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Prototyping:</a:t>
            </a:r>
            <a:r>
              <a:rPr lang="en-US" sz="143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 V1→V2 Iteration als Schlüssel.</a:t>
            </a:r>
            <a:endParaRPr lang="de-DE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Google Shape;346;p23"/>
          <p:cNvSpPr/>
          <p:nvPr/>
        </p:nvSpPr>
        <p:spPr>
          <a:xfrm>
            <a:off x="6610680" y="3600000"/>
            <a:ext cx="10440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43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•</a:t>
            </a:r>
            <a:endParaRPr lang="de-DE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Google Shape;347;p23"/>
          <p:cNvSpPr/>
          <p:nvPr/>
        </p:nvSpPr>
        <p:spPr>
          <a:xfrm>
            <a:off x="6715080" y="3553920"/>
            <a:ext cx="4609800" cy="50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476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lang="en-US" sz="1430" b="1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Qualität:</a:t>
            </a:r>
            <a:r>
              <a:rPr lang="en-US" sz="143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 Firmware-Filterung kompensiert physikalische Toleranzen.</a:t>
            </a:r>
            <a:endParaRPr lang="de-DE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Google Shape;348;p23"/>
          <p:cNvSpPr/>
          <p:nvPr/>
        </p:nvSpPr>
        <p:spPr>
          <a:xfrm>
            <a:off x="6610680" y="4140000"/>
            <a:ext cx="10440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43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•</a:t>
            </a:r>
            <a:endParaRPr lang="de-DE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Google Shape;349;p23"/>
          <p:cNvSpPr/>
          <p:nvPr/>
        </p:nvSpPr>
        <p:spPr>
          <a:xfrm>
            <a:off x="6715080" y="4060440"/>
            <a:ext cx="4609800" cy="50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476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lang="en-US" sz="1430" b="1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Ausblick:</a:t>
            </a:r>
            <a:r>
              <a:rPr lang="en-US" sz="143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 Gehäusebau (3D-Druck) &amp; ESR-Messung Erweiterung.</a:t>
            </a:r>
            <a:endParaRPr lang="de-DE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354;p24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8" name="Google Shape;355;p24" descr="image.png"/>
          <p:cNvPicPr/>
          <p:nvPr/>
        </p:nvPicPr>
        <p:blipFill>
          <a:blip r:embed="rId2"/>
          <a:stretch/>
        </p:blipFill>
        <p:spPr>
          <a:xfrm>
            <a:off x="666720" y="3801600"/>
            <a:ext cx="10858320" cy="180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9" name="Google Shape;356;p24"/>
          <p:cNvSpPr/>
          <p:nvPr/>
        </p:nvSpPr>
        <p:spPr>
          <a:xfrm>
            <a:off x="395280" y="1155600"/>
            <a:ext cx="11401200" cy="10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5250" b="1" u="none" strike="noStrike">
                <a:solidFill>
                  <a:srgbClr val="1e293b"/>
                </a:solidFill>
                <a:effectLst/>
                <a:uFillTx/>
                <a:latin typeface="Poppins"/>
                <a:ea typeface="Poppins"/>
              </a:rPr>
              <a:t>Vielen Dank!</a:t>
            </a:r>
            <a:endParaRPr lang="de-DE" sz="5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Google Shape;357;p24"/>
          <p:cNvSpPr/>
          <p:nvPr/>
        </p:nvSpPr>
        <p:spPr>
          <a:xfrm>
            <a:off x="666720" y="2498400"/>
            <a:ext cx="1085832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39000"/>
              </a:lnSpc>
              <a:tabLst>
                <a:tab algn="l" pos="0"/>
              </a:tabLst>
            </a:pPr>
            <a:r>
              <a:rPr lang="en-US" sz="2400" b="0" u="none" strike="noStrike">
                <a:solidFill>
                  <a:srgbClr val="0f172a"/>
                </a:solidFill>
                <a:effectLst/>
                <a:uFillTx/>
                <a:latin typeface="Lato"/>
                <a:ea typeface="Lato"/>
              </a:rPr>
              <a:t>Ich stehe für weitere Fragen bereit!</a:t>
            </a:r>
            <a:endParaRPr lang="de-DE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Google Shape;358;p24"/>
          <p:cNvSpPr/>
          <p:nvPr/>
        </p:nvSpPr>
        <p:spPr>
          <a:xfrm>
            <a:off x="666720" y="4372920"/>
            <a:ext cx="10858320" cy="25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40000"/>
              </a:lnSpc>
              <a:tabLst>
                <a:tab algn="l" pos="0"/>
              </a:tabLst>
            </a:pPr>
            <a:r>
              <a:rPr lang="en-US" sz="1430" b="1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Nico Schmidt</a:t>
            </a:r>
            <a:endParaRPr lang="de-DE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Google Shape;359;p24"/>
          <p:cNvSpPr/>
          <p:nvPr/>
        </p:nvSpPr>
        <p:spPr>
          <a:xfrm>
            <a:off x="666720" y="4807440"/>
            <a:ext cx="10858320" cy="25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40000"/>
              </a:lnSpc>
              <a:tabLst>
                <a:tab algn="l" pos="0"/>
              </a:tabLst>
            </a:pPr>
            <a:r>
              <a:rPr lang="en-US" sz="143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GBS TEMPEST und Service GmbH, Diepholz</a:t>
            </a:r>
            <a:endParaRPr lang="de-DE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Google Shape;360;p24"/>
          <p:cNvSpPr/>
          <p:nvPr/>
        </p:nvSpPr>
        <p:spPr>
          <a:xfrm>
            <a:off x="666720" y="5241600"/>
            <a:ext cx="1085832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39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ato"/>
                <a:ea typeface="Lato"/>
              </a:rPr>
              <a:t>IHK Osnabrück · AP2 2026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365;p25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5" name="Google Shape;366;p25" descr="image.png"/>
          <p:cNvPicPr/>
          <p:nvPr/>
        </p:nvPicPr>
        <p:blipFill>
          <a:blip r:embed="rId2"/>
          <a:stretch/>
        </p:blipFill>
        <p:spPr>
          <a:xfrm>
            <a:off x="666720" y="1868760"/>
            <a:ext cx="5333760" cy="1504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6" name="Google Shape;367;p25" descr="image.png"/>
          <p:cNvPicPr/>
          <p:nvPr/>
        </p:nvPicPr>
        <p:blipFill>
          <a:blip r:embed="rId3"/>
          <a:stretch/>
        </p:blipFill>
        <p:spPr>
          <a:xfrm>
            <a:off x="6191280" y="1868760"/>
            <a:ext cx="5333760" cy="1504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7" name="Google Shape;368;p25" descr="image.png"/>
          <p:cNvPicPr/>
          <p:nvPr/>
        </p:nvPicPr>
        <p:blipFill>
          <a:blip r:embed="rId4"/>
          <a:stretch/>
        </p:blipFill>
        <p:spPr>
          <a:xfrm>
            <a:off x="666720" y="3564360"/>
            <a:ext cx="5333760" cy="1504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8" name="Google Shape;369;p25" descr="image.png"/>
          <p:cNvPicPr/>
          <p:nvPr/>
        </p:nvPicPr>
        <p:blipFill>
          <a:blip r:embed="rId5"/>
          <a:stretch/>
        </p:blipFill>
        <p:spPr>
          <a:xfrm>
            <a:off x="6191280" y="3564360"/>
            <a:ext cx="5333760" cy="1504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9" name="Google Shape;370;p25"/>
          <p:cNvSpPr/>
          <p:nvPr/>
        </p:nvSpPr>
        <p:spPr>
          <a:xfrm>
            <a:off x="1162080" y="476280"/>
            <a:ext cx="10881000" cy="54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2850" b="0" u="none" strike="noStrike">
                <a:solidFill>
                  <a:srgbClr val="0f172a"/>
                </a:solidFill>
                <a:effectLst/>
                <a:uFillTx/>
                <a:latin typeface="Poppins SemiBold"/>
                <a:ea typeface="Poppins SemiBold"/>
              </a:rPr>
              <a:t>Technisches Datenblatt (Summary)</a:t>
            </a:r>
            <a:endParaRPr lang="de-DE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Google Shape;371;p25"/>
          <p:cNvSpPr/>
          <p:nvPr/>
        </p:nvSpPr>
        <p:spPr>
          <a:xfrm>
            <a:off x="666720" y="1019160"/>
            <a:ext cx="329544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1" name="Google Shape;372;p25" descr="image.png"/>
          <p:cNvPicPr/>
          <p:nvPr/>
        </p:nvPicPr>
        <p:blipFill>
          <a:blip r:embed="rId6"/>
          <a:stretch/>
        </p:blipFill>
        <p:spPr>
          <a:xfrm>
            <a:off x="666720" y="595440"/>
            <a:ext cx="304560" cy="30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2" name="Google Shape;373;p25"/>
          <p:cNvSpPr/>
          <p:nvPr/>
        </p:nvSpPr>
        <p:spPr>
          <a:xfrm>
            <a:off x="666720" y="5355000"/>
            <a:ext cx="10858320" cy="18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94a3b8"/>
                </a:solidFill>
                <a:effectLst/>
                <a:uFillTx/>
                <a:latin typeface="Lato"/>
                <a:ea typeface="Lato"/>
              </a:rPr>
              <a:t>* Diese Folie dient als visuelle Gedankenstütze während der Q&amp;A Session.</a:t>
            </a:r>
            <a:endParaRPr lang="de-D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Google Shape;374;p25"/>
          <p:cNvSpPr/>
          <p:nvPr/>
        </p:nvSpPr>
        <p:spPr>
          <a:xfrm>
            <a:off x="914400" y="2059200"/>
            <a:ext cx="514044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3b82f6"/>
                </a:solidFill>
                <a:effectLst/>
                <a:uFillTx/>
                <a:latin typeface="Poppins"/>
                <a:ea typeface="Poppins"/>
              </a:rPr>
              <a:t>Elektrische Parameter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Google Shape;375;p25"/>
          <p:cNvSpPr/>
          <p:nvPr/>
        </p:nvSpPr>
        <p:spPr>
          <a:xfrm>
            <a:off x="914400" y="2440440"/>
            <a:ext cx="4895640" cy="59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87000"/>
              </a:lnSpc>
              <a:tabLst>
                <a:tab algn="l" pos="0"/>
              </a:tabLst>
            </a:pPr>
            <a:r>
              <a:rPr lang="en-US" sz="113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• Versorgung: 5V USB (± 5%)</a:t>
            </a:r>
            <a:br>
              <a:rPr sz="1800"/>
            </a:br>
            <a:r>
              <a:rPr lang="en-US" sz="113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 • Ladestrom: 1,042 mA (LM317L)</a:t>
            </a:r>
            <a:br>
              <a:rPr sz="1800"/>
            </a:br>
            <a:r>
              <a:rPr lang="en-US" sz="113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 • Ref-Spannung: 1,1 V (intern)</a:t>
            </a:r>
            <a:endParaRPr lang="de-DE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Google Shape;376;p25"/>
          <p:cNvSpPr/>
          <p:nvPr/>
        </p:nvSpPr>
        <p:spPr>
          <a:xfrm>
            <a:off x="6438960" y="2059200"/>
            <a:ext cx="514044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0b981"/>
                </a:solidFill>
                <a:effectLst/>
                <a:uFillTx/>
                <a:latin typeface="Poppins"/>
                <a:ea typeface="Poppins"/>
              </a:rPr>
              <a:t>Mess-Spezifikation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Google Shape;377;p25"/>
          <p:cNvSpPr/>
          <p:nvPr/>
        </p:nvSpPr>
        <p:spPr>
          <a:xfrm>
            <a:off x="6438960" y="2440440"/>
            <a:ext cx="4895640" cy="59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87000"/>
              </a:lnSpc>
              <a:tabLst>
                <a:tab algn="l" pos="0"/>
              </a:tabLst>
            </a:pPr>
            <a:r>
              <a:rPr lang="en-US" sz="113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• Bereich: 10 µF – 10.000 µF</a:t>
            </a:r>
            <a:br>
              <a:rPr sz="1800"/>
            </a:br>
            <a:r>
              <a:rPr lang="en-US" sz="113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 • Toleranz: ±20% (konservativ)</a:t>
            </a:r>
            <a:br>
              <a:rPr sz="1800"/>
            </a:br>
            <a:r>
              <a:rPr lang="en-US" sz="113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 • Zeitbasis: 16 µs pro Tick</a:t>
            </a:r>
            <a:endParaRPr lang="de-DE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Google Shape;378;p25"/>
          <p:cNvSpPr/>
          <p:nvPr/>
        </p:nvSpPr>
        <p:spPr>
          <a:xfrm>
            <a:off x="914400" y="3754800"/>
            <a:ext cx="514044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3b82f6"/>
                </a:solidFill>
                <a:effectLst/>
                <a:uFillTx/>
                <a:latin typeface="Poppins"/>
                <a:ea typeface="Poppins"/>
              </a:rPr>
              <a:t>Hardware-Design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Google Shape;379;p25"/>
          <p:cNvSpPr/>
          <p:nvPr/>
        </p:nvSpPr>
        <p:spPr>
          <a:xfrm>
            <a:off x="914400" y="4135680"/>
            <a:ext cx="4895640" cy="59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87000"/>
              </a:lnSpc>
              <a:tabLst>
                <a:tab algn="l" pos="0"/>
              </a:tabLst>
            </a:pPr>
            <a:r>
              <a:rPr lang="en-US" sz="113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• MCU: ATmega328P (16 MHz Quarz)</a:t>
            </a:r>
            <a:br>
              <a:rPr sz="1800"/>
            </a:br>
            <a:r>
              <a:rPr lang="en-US" sz="113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 • Schutz: PMOS IRLML6402</a:t>
            </a:r>
            <a:br>
              <a:rPr sz="1800"/>
            </a:br>
            <a:r>
              <a:rPr lang="en-US" sz="113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 • Entladung: 2N7002 + 470 Ω</a:t>
            </a:r>
            <a:endParaRPr lang="de-DE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Google Shape;380;p25"/>
          <p:cNvSpPr/>
          <p:nvPr/>
        </p:nvSpPr>
        <p:spPr>
          <a:xfrm>
            <a:off x="6438960" y="3754800"/>
            <a:ext cx="514044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0b981"/>
                </a:solidFill>
                <a:effectLst/>
                <a:uFillTx/>
                <a:latin typeface="Poppins"/>
                <a:ea typeface="Poppins"/>
              </a:rPr>
              <a:t>Software-Struktur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Google Shape;381;p25"/>
          <p:cNvSpPr/>
          <p:nvPr/>
        </p:nvSpPr>
        <p:spPr>
          <a:xfrm>
            <a:off x="6438960" y="4135680"/>
            <a:ext cx="4895640" cy="59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87000"/>
              </a:lnSpc>
              <a:tabLst>
                <a:tab algn="l" pos="0"/>
              </a:tabLst>
            </a:pPr>
            <a:r>
              <a:rPr lang="en-US" sz="113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• 2-aus-3 Plausibilitätsfilter</a:t>
            </a:r>
            <a:br>
              <a:rPr sz="1800"/>
            </a:br>
            <a:r>
              <a:rPr lang="en-US" sz="113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 • Hardware-Polling (Echtzeit)</a:t>
            </a:r>
            <a:br>
              <a:rPr sz="1800"/>
            </a:br>
            <a:r>
              <a:rPr lang="en-US" sz="1130" b="0" u="none" strike="noStrike">
                <a:solidFill>
                  <a:srgbClr val="475569"/>
                </a:solidFill>
                <a:effectLst/>
                <a:uFillTx/>
                <a:latin typeface="Lato"/>
                <a:ea typeface="Lato"/>
              </a:rPr>
              <a:t> • Dynamisches Kino-Timing</a:t>
            </a:r>
            <a:endParaRPr lang="de-DE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LibreOffice/25.8.6.2$Windows_X86_64 LibreOffice_project/b4b39682cd9868fa725bc664aff94278d315bd04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de-DE</dc:language>
  <cp:lastModifiedBy/>
  <dcterms:modified xsi:type="dcterms:W3CDTF">2026-05-23T23:18:34Z</dcterms:modified>
  <cp:revision>3</cp:revision>
  <dc:subject/>
  <dc:title/>
</cp:coreProperties>
</file>