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906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315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320040"/>
            <a:ext cx="1645920" cy="41148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320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IHK Osnabrück  AP2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KapTester V2</a:t>
            </a:r>
            <a:endParaRPr lang="en-US" sz="62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5029200" cy="548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402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</a:rPr>
              <a:t>Entwicklung und Aufbau eines Kapazitätstesters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</a:rPr>
              <a:t>für Elektrolytkondensatoren (10 µF – 10.000 µF)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5029200" cy="1463040"/>
          </a:xfrm>
          <a:prstGeom prst="rect">
            <a:avLst/>
          </a:prstGeom>
          <a:solidFill>
            <a:srgbClr val="0D1F33"/>
          </a:solidFill>
          <a:ln w="12700">
            <a:solidFill>
              <a:srgbClr val="2D7DD2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136392"/>
            <a:ext cx="4663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AFD4"/>
                </a:solidFill>
              </a:rPr>
              <a:t xml:space="preserve">Beruf:              </a:t>
            </a:r>
            <a:r>
              <a:rPr lang="en-US" sz="1100" b="1" dirty="0">
                <a:solidFill>
                  <a:srgbClr val="FFFFFF"/>
                </a:solidFill>
              </a:rPr>
              <a:t>Elektroniker für Geräte und Systeme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AFD4"/>
                </a:solidFill>
              </a:rPr>
              <a:t xml:space="preserve">Name:              </a:t>
            </a:r>
            <a:r>
              <a:rPr lang="en-US" sz="1100" b="1" dirty="0">
                <a:solidFill>
                  <a:srgbClr val="FFFFFF"/>
                </a:solidFill>
              </a:rPr>
              <a:t>Nico Schmidt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AFD4"/>
                </a:solidFill>
              </a:rPr>
              <a:t xml:space="preserve">Prüflingsnr.:      </a:t>
            </a:r>
            <a:r>
              <a:rPr lang="en-US" sz="1100" b="1" dirty="0">
                <a:solidFill>
                  <a:srgbClr val="FFFFFF"/>
                </a:solidFill>
              </a:rPr>
              <a:t>(133)-1251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AFD4"/>
                </a:solidFill>
              </a:rPr>
              <a:t xml:space="preserve">Betrieb:           </a:t>
            </a:r>
            <a:r>
              <a:rPr lang="en-US" sz="1100" b="1" dirty="0">
                <a:solidFill>
                  <a:srgbClr val="FFFFFF"/>
                </a:solidFill>
              </a:rPr>
              <a:t>GBS TEMPEST und Service GmbH, Diepholz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AFD4"/>
                </a:solidFill>
              </a:rPr>
              <a:t xml:space="preserve">Ausbilder:        </a:t>
            </a:r>
            <a:r>
              <a:rPr lang="en-US" sz="1100" b="1" dirty="0">
                <a:solidFill>
                  <a:srgbClr val="FFFFFF"/>
                </a:solidFill>
              </a:rPr>
              <a:t>Andreas Moosmann</a:t>
            </a:r>
            <a:endParaRPr lang="en-US" sz="1100" dirty="0"/>
          </a:p>
        </p:txBody>
      </p:sp>
      <p:pic>
        <p:nvPicPr>
          <p:cNvPr id="11" name="Image 0" descr="/mnt/user-data/uploads/V1_Front_Best.jpe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5669280" y="2743200"/>
            <a:ext cx="310896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Gliederung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D"/>
                </a:solidFill>
              </a:rPr>
              <a:t>KapTester V2  ·  Nico Schmidt  ·  IHK Osnabrück AP2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D"/>
                </a:solidFill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54864" cy="475488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0020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7DD2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1609344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</a:rPr>
              <a:t>Ausgangssituation &amp; Auftrag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21408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21408"/>
            <a:ext cx="54864" cy="475488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16712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7DD2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15568" y="2176272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</a:rPr>
              <a:t>Idee &amp; Messprinzip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8833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688336"/>
            <a:ext cx="54864" cy="475488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73405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7DD2"/>
                </a:solidFill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5568" y="274320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</a:rPr>
              <a:t>Konkretisierung: Schaltung &amp; Blockschaltbild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255264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255264"/>
            <a:ext cx="54864" cy="47548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30098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4C3C"/>
                </a:solidFill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15568" y="331012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</a:rPr>
              <a:t>V1-Platine – Aufbau &amp; kritischer Fehler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82219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822192"/>
            <a:ext cx="54864" cy="4754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8679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15568" y="3877056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</a:rPr>
              <a:t>V2-Platine – Analyse, Korrektur &amp; Finalisierung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155448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554480"/>
            <a:ext cx="54864" cy="475488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60020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7DD2"/>
                </a:solidFill>
              </a:rPr>
              <a:t>06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13248" y="1609344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</a:rPr>
              <a:t>Bestückung – Löten &amp; Montage nach IPC-A-610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2121408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121408"/>
            <a:ext cx="54864" cy="475488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16712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7DD2"/>
                </a:solidFill>
              </a:rPr>
              <a:t>07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13248" y="2176272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</a:rPr>
              <a:t>Programmierung &amp; Firmware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0" y="268833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2688336"/>
            <a:ext cx="54864" cy="475488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273405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7DD2"/>
                </a:solidFill>
              </a:rPr>
              <a:t>08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413248" y="274320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</a:rPr>
              <a:t>Inbetriebnahme &amp; Messergebnisse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754880" y="3255264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3255264"/>
            <a:ext cx="54864" cy="47548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330098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E4A"/>
                </a:solidFill>
              </a:rPr>
              <a:t>09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413248" y="331012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</a:rPr>
              <a:t>Fazit &amp; Selbstreflexion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  Auftrag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Ausgangssituation &amp; Auftrag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8D"/>
                </a:solidFill>
              </a:rPr>
              <a:t>Warum dieses Projekt?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D"/>
                </a:solidFill>
              </a:rPr>
              <a:t>KapTester V2  ·  Nico Schmidt  ·  IHK Osnabrück AP2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D"/>
                </a:solidFill>
              </a:rPr>
              <a:t>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508760"/>
            <a:ext cx="54864" cy="20116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58191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</a:rPr>
              <a:t>⚠  Das Problem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" y="1938528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1A2E4A"/>
                </a:solidFill>
              </a:rPr>
              <a:t>Kein dediziertes Prüfmittel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E4A"/>
                </a:solidFill>
              </a:rPr>
              <a:t>für Elektrolytkondensatoren (&gt; 1.000 µF) im Betrieb.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1A2E4A"/>
                </a:solidFill>
              </a:rPr>
              <a:t>Handelsübliche Multimeter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E4A"/>
                </a:solidFill>
              </a:rPr>
              <a:t>ungenau, zu langsam oder kein Messbereich &gt; 9.999 µF.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1A2E4A"/>
                </a:solidFill>
              </a:rPr>
              <a:t>Sicherheitsrisiko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E4A"/>
                </a:solidFill>
              </a:rPr>
              <a:t>durch Restladung &amp; Verpolung (bis 10.000 µF).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50876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508760"/>
            <a:ext cx="54864" cy="2011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58191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</a:rPr>
              <a:t>✓  Das Ziel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193852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A8D"/>
                </a:solidFill>
              </a:rPr>
              <a:t>Messbereich: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82512" y="193852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</a:rPr>
              <a:t>10 µF – 10.000 µF  (Nachweis: Messprotokoll)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83480" y="2276856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A8D"/>
                </a:solidFill>
              </a:rPr>
              <a:t>Verpolschutz: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82512" y="227685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</a:rPr>
              <a:t>PMOS Q1 – kein Schaden bei Verpolung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83480" y="2615184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A8D"/>
                </a:solidFill>
              </a:rPr>
              <a:t>Entladepfad: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82512" y="261518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</a:rPr>
              <a:t>Automatisch ≤ 10 s nach Messung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83480" y="2953512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A8D"/>
                </a:solidFill>
              </a:rPr>
              <a:t>Anzeige: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82512" y="295351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</a:rPr>
              <a:t>OLED (µF-Wert) + LED grün/rot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83480" y="329184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A8D"/>
                </a:solidFill>
              </a:rPr>
              <a:t>Versorgung: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82512" y="329184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</a:rPr>
              <a:t>5 V USB · Abblockkond. C1–C5 an MCU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83480" y="363016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A8D"/>
                </a:solidFill>
              </a:rPr>
              <a:t>Fertigung: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82512" y="363016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</a:rPr>
              <a:t>Eigene Leiterplatte, PCBWay, 2 Lagen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639312"/>
            <a:ext cx="27432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639312"/>
            <a:ext cx="54864" cy="107899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694176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7DD2"/>
                </a:solidFill>
              </a:rPr>
              <a:t>📊  DMM-Vergleich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" y="3995928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</a:rPr>
              <a:t>UNI-T UT61E: max. 9.999 µF, ±3%+5 Dgt.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1792" y="4233672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</a:rPr>
              <a:t>Ladezeit 10.000 µF: &gt; 30 s, unreproduzierbar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1792" y="4471416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</a:rPr>
              <a:t>KapTester: bis 10.000 µF, deterministisch, ≤ 15 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37560" y="3639312"/>
            <a:ext cx="27432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337560" y="3639312"/>
            <a:ext cx="54864" cy="107899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02152" y="3694176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39C12"/>
                </a:solidFill>
              </a:rPr>
              <a:t>±20%  Toleranz – Begründung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502152" y="3995928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</a:rPr>
              <a:t>Interne 1,1-V-Ref: ±10 % lt. ATmega-Datenblatt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502152" y="4233672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</a:rPr>
              <a:t>R8 (1,2 kΩ): ±1 % → I-Abweichung &lt; 1 %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502152" y="4471416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</a:rPr>
              <a:t>Gesamt: ±20 % bewusst konservativ gewählt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217920" y="3639312"/>
            <a:ext cx="27432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17920" y="3639312"/>
            <a:ext cx="54864" cy="10789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82512" y="3694176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</a:rPr>
              <a:t>🔒  Kein Restladungs-Risiko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82512" y="3995928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</a:rPr>
              <a:t>Q2 (NMOS) + R20 (470 Ω): automatischer Entladepfad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82512" y="4233672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</a:rPr>
              <a:t>Firmware: Entladen nach JEDER Messung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382512" y="4471416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</a:rPr>
              <a:t>Nachweis: 4.700 µF &lt; 0,1 V in ≤ 10 s (Messprotokoll)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  Messprinzip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Idee &amp; Messprinzip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8D"/>
                </a:solidFill>
              </a:rPr>
              <a:t>Wie misst man eine Kapazität zuverlässig?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D"/>
                </a:solidFill>
              </a:rPr>
              <a:t>KapTester V2  ·  Nico Schmidt  ·  IHK Osnabrück AP2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D"/>
                </a:solidFill>
              </a:rPr>
              <a:t>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8229600" cy="9601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62763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 =  I × t / U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457200" y="1508760"/>
            <a:ext cx="8229600" cy="84124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153619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 =  I × t / U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457200" y="2450592"/>
            <a:ext cx="265176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417320" y="2523744"/>
            <a:ext cx="713232" cy="713232"/>
          </a:xfrm>
          <a:prstGeom prst="ellipse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252374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48640" y="329184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</a:rPr>
              <a:t>Konstantstrom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520440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7DD2"/>
                </a:solidFill>
              </a:rPr>
              <a:t>1,042 mA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373989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</a:rPr>
              <a:t>LM317L hält 1,25 V über R8 (1,2 kΩ)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</a:rPr>
              <a:t>I = 1,25 V / 1.200 Ω = 1,042 mA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40233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2D7DD2"/>
                </a:solidFill>
              </a:rPr>
              <a:t>Warum dieser Wert? Klein genug (kein Schaden), groß genug (10.000 µF in &lt; 12 s)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91840" y="2450592"/>
            <a:ext cx="265176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51960" y="2523744"/>
            <a:ext cx="713232" cy="71323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51960" y="252374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383280" y="329184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</a:rPr>
              <a:t>Ladezeit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3520440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39C12"/>
                </a:solidFill>
              </a:rPr>
              <a:t>gemessen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83280" y="373989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</a:rPr>
              <a:t>ATmega 16-Bit Timer @ 16 MHz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</a:rPr>
              <a:t>Auflösung: 62,5 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83280" y="40233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39C12"/>
                </a:solidFill>
              </a:rPr>
              <a:t>Warum Timer? Messbar von ~10 ms (100 µF) bis 10,6 s (10.000 µF)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26480" y="2450592"/>
            <a:ext cx="265176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086600" y="2523744"/>
            <a:ext cx="713232" cy="71323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86600" y="252374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217920" y="329184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</a:rPr>
              <a:t>Schwellwert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3520440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7AE60"/>
                </a:solidFill>
              </a:rPr>
              <a:t>1,1 V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17920" y="373989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</a:rPr>
              <a:t>Interne Referenz ATmega328P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</a:rPr>
              <a:t>(ADMUX: REFS1=1, REFS0=1)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17920" y="40233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27AE60"/>
                </a:solidFill>
              </a:rPr>
              <a:t>Warum intern? Unabhängig von AVCC/USB-Schwankungen – stabiler Messpunkt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" y="4416552"/>
            <a:ext cx="8229600" cy="292608"/>
          </a:xfrm>
          <a:prstGeom prst="rect">
            <a:avLst/>
          </a:prstGeom>
          <a:solidFill>
            <a:srgbClr val="FFF8EC"/>
          </a:solidFill>
          <a:ln w="12700">
            <a:solidFill>
              <a:srgbClr val="F5D78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94360" y="4443984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5500"/>
                </a:solidFill>
              </a:rPr>
              <a:t>Toleranz ±20 %:  ±10 % (interne 1,1-V-Ref lt. Datenblatt)  +  ±1 % (R8)  +  Bauteilstreuung  →  bewusst konservativ  |  mögliche Probleme: Erwärmung R8, Kabelwiderstand bei großen Elkos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  Schaltung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Konkretisierung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8D"/>
                </a:solidFill>
              </a:rPr>
              <a:t>Schaltungsentwurf &amp; Systemarchitektur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D"/>
                </a:solidFill>
              </a:rPr>
              <a:t>KapTester V2  ·  Nico Schmidt  ·  IHK Osnabrück AP2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D"/>
                </a:solidFill>
              </a:rPr>
              <a:t>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53035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9" name="Image 0" descr="/mnt/user-data/uploads/Blockschaltbild_drawi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600200"/>
            <a:ext cx="5120640" cy="31089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943600" y="1508760"/>
            <a:ext cx="29260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0" y="1508760"/>
            <a:ext cx="54864" cy="329184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0" y="158191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7DD2"/>
                </a:solidFill>
              </a:rPr>
              <a:t>Design-Entscheidungen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44768" y="199339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🔌  Verpolschutz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144768" y="22219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</a:rPr>
              <a:t>PMOS IRLML6402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</a:rPr>
              <a:t>Gate-Teiler R2/R3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144768" y="256032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⚡  Konstantstrom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144768" y="27889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</a:rPr>
              <a:t>LM317L (SOT-89)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</a:rPr>
              <a:t>I = 1,042 mA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144768" y="312724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🔁  Entladepfad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144768" y="33558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</a:rPr>
              <a:t>NMOS 2N7002 + R20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</a:rPr>
              <a:t>470 Ω Strombegrenzer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144768" y="369417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💻  Mikrocontroller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144768" y="392277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</a:rPr>
              <a:t>ATmega328P-AU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</a:rPr>
              <a:t>TQFP-32, 16 MHz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144768" y="426110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📺  Anzeige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144768" y="448970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</a:rPr>
              <a:t>SSD1306 OLED + 2 LEDs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</a:rPr>
              <a:t>I²C 0x3C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  V1 – Fehler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V1 – Aufbau &amp; kritischer Fehler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8D"/>
                </a:solidFill>
              </a:rPr>
              <a:t>Was ist passiert?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D"/>
                </a:solidFill>
              </a:rPr>
              <a:t>KapTester V2  ·  Nico Schmidt  ·  IHK Osnabrück AP2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D"/>
                </a:solidFill>
              </a:rPr>
              <a:t>6</a:t>
            </a:r>
            <a:endParaRPr lang="en-US" sz="1000" dirty="0"/>
          </a:p>
        </p:txBody>
      </p:sp>
      <p:pic>
        <p:nvPicPr>
          <p:cNvPr id="8" name="Image 0" descr="/mnt/user-data/uploads/V1_Leer_Front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508760"/>
            <a:ext cx="2286000" cy="30175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926080" y="1508760"/>
            <a:ext cx="5852160" cy="1417320"/>
          </a:xfrm>
          <a:prstGeom prst="rect">
            <a:avLst/>
          </a:prstGeom>
          <a:solidFill>
            <a:srgbClr val="FFF3F3"/>
          </a:solidFill>
          <a:ln w="12700">
            <a:solidFill>
              <a:srgbClr val="F5AAA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926080" y="1508760"/>
            <a:ext cx="54864" cy="1417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27248" y="158191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</a:rPr>
              <a:t>❌  Kritischer Planungsfehler (Risikoanalyse R6)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127248" y="1938528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</a:rPr>
              <a:t xml:space="preserve">KiCad-Symbol ATmega: </a:t>
            </a:r>
            <a:r>
              <a:rPr lang="en-US" sz="1200" b="1" dirty="0">
                <a:solidFill>
                  <a:srgbClr val="E74C3C"/>
                </a:solidFill>
              </a:rPr>
              <a:t>DIP-28 (Simulation)</a:t>
            </a:r>
            <a:r>
              <a:rPr lang="en-US" sz="1200" dirty="0">
                <a:solidFill>
                  <a:srgbClr val="1A2E4A"/>
                </a:solidFill>
              </a:rPr>
              <a:t xml:space="preserve">  statt  </a:t>
            </a:r>
            <a:r>
              <a:rPr lang="en-US" sz="1200" b="1" dirty="0">
                <a:solidFill>
                  <a:srgbClr val="27AE60"/>
                </a:solidFill>
              </a:rPr>
              <a:t>TQFP-32 (Real-Bauteil)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1A2E4A"/>
                </a:solidFill>
              </a:rPr>
              <a:t>→ Alle 32 Pins falsch verdrahtet → Platine V1 nie funktional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926080" y="306324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926080" y="3063240"/>
            <a:ext cx="54864" cy="16916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27248" y="31363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</a:rPr>
              <a:t>Was lief schief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127248" y="3502152"/>
            <a:ext cx="24688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A2E4A"/>
                </a:solidFill>
              </a:rPr>
              <a:t>Symbol ≠ Footprint ≠ Datenblatt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A2E4A"/>
                </a:solidFill>
              </a:rPr>
              <a:t>Pinbelegung nicht gegen Datenblatt geprüft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A2E4A"/>
                </a:solidFill>
              </a:rPr>
              <a:t>Bestellung ohne ausreichende Verifikation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852160" y="3063240"/>
            <a:ext cx="2926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852160" y="3063240"/>
            <a:ext cx="54864" cy="16916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53328" y="31363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</a:rPr>
              <a:t>Weitere V1-Mängel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053328" y="3502152"/>
            <a:ext cx="26060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A2E4A"/>
                </a:solidFill>
              </a:rPr>
              <a:t>R20 fehlte: kein Entlade-Schutzwiderstand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A2E4A"/>
                </a:solidFill>
              </a:rPr>
              <a:t>PMOS Gate-Teiler: VGS nur −2,5 V statt −4,5 V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1A2E4A"/>
                </a:solidFill>
              </a:rPr>
              <a:t>→ unsicheres Einschalten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  V2 – Lösung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E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V2 – Analyse, Korrektur &amp; Finalisierung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8D"/>
                </a:solidFill>
              </a:rPr>
              <a:t>Vollständige Neugestaltung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D"/>
                </a:solidFill>
              </a:rPr>
              <a:t>KapTester V2  ·  Nico Schmidt  ·  IHK Osnabrück AP2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D"/>
                </a:solidFill>
              </a:rPr>
              <a:t>7</a:t>
            </a:r>
            <a:endParaRPr lang="en-US" sz="1000" dirty="0"/>
          </a:p>
        </p:txBody>
      </p:sp>
      <p:pic>
        <p:nvPicPr>
          <p:cNvPr id="8" name="Image 0" descr="/mnt/user-data/uploads/V1_LEER_Back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17920" y="1508760"/>
            <a:ext cx="2651760" cy="3291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481328"/>
            <a:ext cx="5577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481328"/>
            <a:ext cx="54864" cy="914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" y="1545336"/>
            <a:ext cx="658368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154533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FIX 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371600" y="15270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</a:rPr>
              <a:t>ATmega Symbol korrigiert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371600" y="1810512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4C3C"/>
                </a:solidFill>
              </a:rPr>
              <a:t>Vorher: DIP-28 Simulationssymbol (falsch)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371600" y="2029968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7AE60"/>
                </a:solidFill>
              </a:rPr>
              <a:t>Nachher: ATmega328P-AU TQFP-32 (32 Pins, korrekt)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371600" y="2240280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A8D"/>
                </a:solidFill>
              </a:rPr>
              <a:t>→ Kompletter Schaltplan &amp; PCB neu aufgebaut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57200" y="2487168"/>
            <a:ext cx="5577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" y="2487168"/>
            <a:ext cx="54864" cy="91440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4360" y="2551176"/>
            <a:ext cx="658368" cy="25603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255117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FIX 2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371600" y="25328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</a:rPr>
              <a:t>R20 = 470 Ω neu eingefügt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371600" y="2816352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4C3C"/>
                </a:solidFill>
              </a:rPr>
              <a:t>Vorher: Kein Schutzwiderstand an Q2-Drain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371600" y="3035808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7AE60"/>
                </a:solidFill>
              </a:rPr>
              <a:t>Nachher: 470 Ω in Serie → Einschaltstrom begrenzt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371600" y="3246120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A8D"/>
                </a:solidFill>
              </a:rPr>
              <a:t>→ Schützt Q2 bei großen Elkos (10.000 µF)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7200" y="3493008"/>
            <a:ext cx="5577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57200" y="3493008"/>
            <a:ext cx="54864" cy="9144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4360" y="3557016"/>
            <a:ext cx="658368" cy="25603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4360" y="355701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FIX 3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371600" y="35387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</a:rPr>
              <a:t>PMOS Gate-Teiler optimiert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371600" y="3822192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4C3C"/>
                </a:solidFill>
              </a:rPr>
              <a:t>Vorher: 100 kΩ / 100 kΩ → VGS = −2,5 V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371600" y="4041648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7AE60"/>
                </a:solidFill>
              </a:rPr>
              <a:t>Nachher: 1 MΩ / 100 kΩ → VGS = −4,5 V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371600" y="4251960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A8D"/>
                </a:solidFill>
              </a:rPr>
              <a:t>→ Robusteres, zuverlässiges Einschalten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57200" y="4425696"/>
            <a:ext cx="5577840" cy="292608"/>
          </a:xfrm>
          <a:prstGeom prst="rect">
            <a:avLst/>
          </a:prstGeom>
          <a:solidFill>
            <a:srgbClr val="E8F8EE"/>
          </a:solidFill>
          <a:ln w="12700">
            <a:solidFill>
              <a:srgbClr val="A8E6B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594360" y="444398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7AE60"/>
                </a:solidFill>
              </a:rPr>
              <a:t>✓  V2-PCB: DRC = 0 Fehler  ·  90×70 mm  ·  2-lagig  ·  bei PCBWay bestellt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06  Durchführung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Durchführung – Bestückung &amp; Aufbau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8D"/>
                </a:solidFill>
              </a:rPr>
              <a:t>Löten nach IPC-A-610 Klasse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D"/>
                </a:solidFill>
              </a:rPr>
              <a:t>KapTester V2  ·  Nico Schmidt  ·  IHK Osnabrück AP2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D"/>
                </a:solidFill>
              </a:rPr>
              <a:t>8</a:t>
            </a:r>
            <a:endParaRPr lang="en-US" sz="1000" dirty="0"/>
          </a:p>
        </p:txBody>
      </p:sp>
      <p:pic>
        <p:nvPicPr>
          <p:cNvPr id="8" name="Image 0" descr="/mnt/user-data/uploads/V1_Front_Best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554480"/>
            <a:ext cx="2743200" cy="3383280"/>
          </a:xfrm>
          <a:prstGeom prst="rect">
            <a:avLst/>
          </a:prstGeom>
        </p:spPr>
      </p:pic>
      <p:pic>
        <p:nvPicPr>
          <p:cNvPr id="9" name="Image 1" descr="/mnt/user-data/uploads/V1_Back_Best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83280" y="1554480"/>
            <a:ext cx="1828800" cy="33832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394960" y="1508760"/>
            <a:ext cx="34290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394960" y="1508760"/>
            <a:ext cx="54864" cy="320040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577840" y="158191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7DD2"/>
                </a:solidFill>
              </a:rPr>
              <a:t>Bestückungsreihenfolge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577840" y="196596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E4A"/>
                </a:solidFill>
              </a:rPr>
              <a:t>1.  SMD-Passivteile (0805, MELF)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577840" y="246888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E4A"/>
                </a:solidFill>
              </a:rPr>
              <a:t>2.  SMD-ICs: SOT-23, SOT-89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577840" y="297180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E4A"/>
                </a:solidFill>
              </a:rPr>
              <a:t>3.  ATmega328P-AU (TQFP-32)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E4A"/>
                </a:solidFill>
              </a:rPr>
              <a:t xml:space="preserve">     Pinabstand 0,8 mm – Lupe!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577840" y="347472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E4A"/>
                </a:solidFill>
              </a:rPr>
              <a:t>4.  THT-Bauteile &amp; Stecker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5577840" y="397764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E4A"/>
                </a:solidFill>
              </a:rPr>
              <a:t>5.  Sichtprüfung: Brücken, Kaltlötstellen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394960" y="4069080"/>
            <a:ext cx="3429000" cy="292608"/>
          </a:xfrm>
          <a:prstGeom prst="rect">
            <a:avLst/>
          </a:prstGeom>
          <a:solidFill>
            <a:srgbClr val="FFF8EC"/>
          </a:solidFill>
          <a:ln w="12700">
            <a:solidFill>
              <a:srgbClr val="F5D78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5532120" y="40873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5500"/>
                </a:solidFill>
              </a:rPr>
              <a:t>'Kalt' = kalte Lötstelle: unzureichende Temperatur → matte, körnige Oberfläche, schlechte Benetzung, instabile Verbindung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5394960" y="4407408"/>
            <a:ext cx="3429000" cy="347472"/>
          </a:xfrm>
          <a:prstGeom prst="rect">
            <a:avLst/>
          </a:prstGeom>
          <a:solidFill>
            <a:srgbClr val="EEF4FB"/>
          </a:solidFill>
          <a:ln w="12700">
            <a:solidFill>
              <a:srgbClr val="AACFE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5532120" y="44348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7DD2"/>
                </a:solidFill>
              </a:rPr>
              <a:t>IPC-A-610 Kl. 2 = 'Dedicated Service' · zuverlässige Industrieelektronik · 375 °C · No-Clean-Lot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07  Firmware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Programmierung &amp; Firmware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8D"/>
                </a:solidFill>
              </a:rPr>
              <a:t>ATmega328P-AU – avrdude / USBasp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D"/>
                </a:solidFill>
              </a:rPr>
              <a:t>KapTester V2  ·  Nico Schmidt  ·  IHK Osnabrück AP2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D"/>
                </a:solidFill>
              </a:rPr>
              <a:t>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41148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508760"/>
            <a:ext cx="54864" cy="315468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58191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7DD2"/>
                </a:solidFill>
              </a:rPr>
              <a:t>Messablauf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0" y="158191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8D"/>
                </a:solidFill>
              </a:rPr>
              <a:t>Warum so?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1975104"/>
            <a:ext cx="256032" cy="256032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975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60120" y="1956816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</a:rPr>
              <a:t>Warten auf SW1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194560" y="195681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A8D"/>
                </a:solidFill>
              </a:rPr>
              <a:t>→ Benutzersicherheit – keine Automessung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0080" y="2313432"/>
            <a:ext cx="256032" cy="25603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313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60120" y="2295144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</a:rPr>
              <a:t>Verpolprüfung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194560" y="229514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A8D"/>
                </a:solidFill>
              </a:rPr>
              <a:t>→ Schutz: Abbruch vor Ladeimpuls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40080" y="2651760"/>
            <a:ext cx="256032" cy="256032"/>
          </a:xfrm>
          <a:prstGeom prst="ellipse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651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60120" y="2633472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</a:rPr>
              <a:t>Kondensator laden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194560" y="263347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A8D"/>
                </a:solidFill>
              </a:rPr>
              <a:t>→ LM317 liefert konstantes I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0080" y="2990088"/>
            <a:ext cx="256032" cy="256032"/>
          </a:xfrm>
          <a:prstGeom prst="ellipse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990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60120" y="2971800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</a:rPr>
              <a:t>Timer starten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194560" y="297180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A8D"/>
                </a:solidFill>
              </a:rPr>
              <a:t>→ Simultan zum Laden → exaktes 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40080" y="3328416"/>
            <a:ext cx="256032" cy="256032"/>
          </a:xfrm>
          <a:prstGeom prst="ellipse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328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60120" y="3310128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</a:rPr>
              <a:t>ADC pollen ≥ 1,1 V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194560" y="331012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A8D"/>
                </a:solidFill>
              </a:rPr>
              <a:t>→ Interne Ref. – stabil, AVCC-unabhängig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40080" y="3666744"/>
            <a:ext cx="256032" cy="25603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666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60120" y="3648456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</a:rPr>
              <a:t>C = I × t / U berechnen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194560" y="364845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A8D"/>
                </a:solidFill>
              </a:rPr>
              <a:t>→ Direkte Formel, kein Lookup nötig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40080" y="4005072"/>
            <a:ext cx="256032" cy="25603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0050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60120" y="3986784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</a:rPr>
              <a:t>OLED + LED anzeigen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194560" y="398678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A8D"/>
                </a:solidFill>
              </a:rPr>
              <a:t>→ Sofortige visuelle Rückmeldung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40080" y="4343400"/>
            <a:ext cx="256032" cy="25603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4343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60120" y="4325112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</a:rPr>
              <a:t>Kondensator entladen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194560" y="432511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A8D"/>
                </a:solidFill>
              </a:rPr>
              <a:t>→ Sicherheit: &lt; 0,1 V vor Entnahme</a:t>
            </a:r>
            <a:endParaRPr lang="en-US" sz="850" dirty="0"/>
          </a:p>
          <a:p>
            <a:pPr algn="l">
              <a:lnSpc>
                <a:spcPts val="2400"/>
              </a:lnSpc>
            </a:pPr>
            <a:r>
              <a:rPr lang="de-DE" sz="750" b="1" dirty="0">
                <a:solidFill>
                  <a:srgbClr val="F39C12"/>
                </a:solidFill>
              </a:rPr>
              <a:t xml:space="preserve"> </a:t>
            </a:r>
          </a:p>
        </p:txBody>
      </p:sp>
      <p:sp>
        <p:nvSpPr>
          <p:cNvPr id="44" name="Shape 42"/>
          <p:cNvSpPr/>
          <p:nvPr/>
        </p:nvSpPr>
        <p:spPr>
          <a:xfrm>
            <a:off x="4754880" y="1508760"/>
            <a:ext cx="4069080" cy="680400"/>
          </a:xfrm>
          <a:prstGeom prst="rect">
            <a:avLst/>
          </a:prstGeom>
          <a:solidFill>
            <a:srgbClr val="1A2E4A"/>
          </a:solidFill>
          <a:ln w="12700">
            <a:solidFill>
              <a:srgbClr val="2D5A8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892040" y="158191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AAFD4"/>
                </a:solidFill>
              </a:rPr>
              <a:t>Fuse Bits setzen (einmalig):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892040" y="187452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avrdude -c usbasp -p m328p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-U lfuse:w:0xFF:m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-U hfuse:w:0xD9:m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892040" y="2050000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8FA8"/>
                </a:solidFill>
              </a:rPr>
              <a:t xml:space="preserve"> 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54880" y="2330000"/>
            <a:ext cx="4069080" cy="500000"/>
          </a:xfrm>
          <a:prstGeom prst="rect">
            <a:avLst/>
          </a:prstGeom>
          <a:solidFill>
            <a:srgbClr val="1A2E4A"/>
          </a:solidFill>
          <a:ln w="12700">
            <a:solidFill>
              <a:srgbClr val="2D5A8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892040" y="240355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AAFD4"/>
                </a:solidFill>
              </a:rPr>
              <a:t>Firmware flashen: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892040" y="250300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avrdude -c usbasp -p m328p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F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-U flash:w:kaptesterfw3_v11.hex:i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754880" y="2900000"/>
            <a:ext cx="4069080" cy="1150000"/>
          </a:xfrm>
          <a:prstGeom prst="rect">
            <a:avLst/>
          </a:prstGeom>
          <a:solidFill>
            <a:srgbClr val="1A2E4A"/>
          </a:solidFill>
          <a:ln w="12700">
            <a:solidFill>
              <a:srgbClr val="F39C12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892040" y="2960000"/>
            <a:ext cx="3840480" cy="10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820" b="1" dirty="0">
                <a:solidFill>
                  <a:srgbClr val="F39C12"/>
                </a:solidFill>
              </a:rPr>
              <a:t>// Snippet 1: Messung + Berechnung</a:t>
            </a:r>
          </a:p>
          <a:p>
            <a:pPr marL="0" indent="0">
              <a:buNone/>
            </a:pPr>
            <a:r>
              <a:rPr lang="de-DE" sz="780" dirty="0">
                <a:solidFill>
                  <a:srgbClr val="7EC8A0"/>
                </a:solidFill>
                <a:latin typeface="Courier New" pitchFamily="34" charset="0"/>
              </a:rPr>
              <a:t>timer1_start();</a:t>
            </a:r>
          </a:p>
          <a:p>
            <a:pPr marL="0" indent="0">
              <a:buNone/>
            </a:pPr>
            <a:r>
              <a:rPr lang="de-DE" sz="780" dirty="0">
                <a:solidFill>
                  <a:srgbClr val="7EC8A0"/>
                </a:solidFill>
                <a:latin typeface="Courier New" pitchFamily="34" charset="0"/>
              </a:rPr>
              <a:t>do { adc_val = adc_read(); }</a:t>
            </a:r>
          </a:p>
          <a:p>
            <a:pPr marL="0" indent="0">
              <a:buNone/>
            </a:pPr>
            <a:r>
              <a:rPr lang="de-DE" sz="780" dirty="0">
                <a:solidFill>
                  <a:srgbClr val="7EC8A0"/>
                </a:solidFill>
                <a:latin typeface="Courier New" pitchFamily="34" charset="0"/>
              </a:rPr>
              <a:t>while (adc_val &lt; ADC_THRESH);</a:t>
            </a:r>
          </a:p>
          <a:p>
            <a:pPr marL="0" indent="0">
              <a:buNone/>
            </a:pPr>
            <a:r>
              <a:rPr lang="de-DE" sz="780" dirty="0">
                <a:solidFill>
                  <a:srgbClr val="7EC8A0"/>
                </a:solidFill>
                <a:latin typeface="Courier New" pitchFamily="34" charset="0"/>
              </a:rPr>
              <a:t>ticks = timer1_stop();</a:t>
            </a:r>
          </a:p>
          <a:p>
            <a:pPr marL="0" indent="0">
              <a:buNone/>
            </a:pPr>
            <a:r>
              <a:rPr lang="de-DE" sz="780" dirty="0">
                <a:solidFill>
                  <a:srgbClr val="FFFFFF"/>
                </a:solidFill>
                <a:latin typeface="Courier New" pitchFamily="34" charset="0"/>
              </a:rPr>
              <a:t>// C = I x t / dU  [in nF]</a:t>
            </a:r>
          </a:p>
          <a:p>
            <a:pPr marL="0" indent="0">
              <a:buNone/>
            </a:pPr>
            <a:r>
              <a:rPr lang="de-DE" sz="780" b="1" dirty="0">
                <a:solidFill>
                  <a:srgbClr val="F39C12"/>
                </a:solidFill>
                <a:latin typeface="Courier New" pitchFamily="34" charset="0"/>
              </a:rPr>
              <a:t>return (I_UA * TICK_US * ticks) / u_delta_mv;</a:t>
            </a:r>
          </a:p>
        </p:txBody>
      </p:sp>
      <p:sp>
        <p:nvSpPr>
          <p:cNvPr id="53" name="Shape 51"/>
          <p:cNvSpPr/>
          <p:nvPr/>
        </p:nvSpPr>
        <p:spPr>
          <a:xfrm>
            <a:off x="4754880" y="4120000"/>
            <a:ext cx="4069080" cy="1000000"/>
          </a:xfrm>
          <a:prstGeom prst="rect">
            <a:avLst/>
          </a:prstGeom>
          <a:solidFill>
            <a:srgbClr val="1A2E4A"/>
          </a:solidFill>
          <a:ln w="12700">
            <a:solidFill>
              <a:srgbClr val="9B59B6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4892040" y="4180000"/>
            <a:ext cx="3840480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820" b="1" dirty="0">
                <a:solidFill>
                  <a:srgbClr val="9B59B6"/>
                </a:solidFill>
              </a:rPr>
              <a:t>// Snippet 2: Plausibilitaetsfilter +-15%</a:t>
            </a:r>
          </a:p>
          <a:p>
            <a:pPr marL="0" indent="0">
              <a:buNone/>
            </a:pPr>
            <a:r>
              <a:rPr lang="de-DE" sz="780" dirty="0">
                <a:solidFill>
                  <a:srgbClr val="CE93D8"/>
                </a:solidFill>
                <a:latin typeface="Courier New" pitchFamily="34" charset="0"/>
              </a:rPr>
              <a:t>((hi-lo)*100UL) &lt;= (PLAUS_PCT * lo)</a:t>
            </a:r>
          </a:p>
          <a:p>
            <a:pPr marL="0" indent="0">
              <a:buNone/>
            </a:pPr>
            <a:r>
              <a:rPr lang="de-DE" sz="780" dirty="0">
                <a:solidFill>
                  <a:srgbClr val="FFFFFF"/>
                </a:solidFill>
                <a:latin typeface="Courier New" pitchFamily="34" charset="0"/>
              </a:rPr>
              <a:t>// 3 Werte -&gt; bestes Ergebnis</a:t>
            </a:r>
          </a:p>
          <a:p>
            <a:pPr marL="0" indent="0">
              <a:buNone/>
            </a:pPr>
            <a:r>
              <a:rPr lang="de-DE" sz="780" dirty="0">
                <a:solidFill>
                  <a:srgbClr val="CE93D8"/>
                </a:solidFill>
                <a:latin typeface="Courier New" pitchFamily="34" charset="0"/>
              </a:rPr>
              <a:t>p01&amp;&amp;p02&amp;&amp;p12 → Mittelwert(v0,v1,v2)</a:t>
            </a:r>
          </a:p>
          <a:p>
            <a:pPr marL="0" indent="0">
              <a:buNone/>
            </a:pPr>
            <a:r>
              <a:rPr lang="de-DE" sz="780" dirty="0">
                <a:solidFill>
                  <a:srgbClr val="CE93D8"/>
                </a:solidFill>
                <a:latin typeface="Courier New" pitchFamily="34" charset="0"/>
              </a:rPr>
              <a:t>nur p01        → Mittelwert(v0,v1)</a:t>
            </a:r>
          </a:p>
          <a:p>
            <a:pPr marL="0" indent="0">
              <a:buNone/>
            </a:pPr>
            <a:r>
              <a:rPr lang="de-DE" sz="780" b="1" dirty="0">
                <a:solidFill>
                  <a:srgbClr val="E74C3C"/>
                </a:solidFill>
                <a:latin typeface="Courier New" pitchFamily="34" charset="0"/>
              </a:rPr>
              <a:t>kein Match     → FAIL (streuen zu stark)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08  IBN &amp; Messung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Inbetriebnahme &amp; Messergebnisse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8D"/>
                </a:solidFill>
              </a:rPr>
              <a:t>Testpunkte JTP1–10  ·  5 Referenz-Kondensatoren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D"/>
                </a:solidFill>
              </a:rPr>
              <a:t>KapTester V2  ·  Nico Schmidt  ·  IHK Osnabrück AP2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D"/>
                </a:solidFill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29260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508760"/>
            <a:ext cx="54864" cy="306324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58191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7DD2"/>
                </a:solidFill>
              </a:rPr>
              <a:t>Inbetriebnahme-Schritte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8368" y="19202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</a:rPr>
              <a:t>① Kurzschlusscheck GND↔+5V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58368" y="221284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</a:rPr>
              <a:t>② Ersteinschalten: 5V / 100 mA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58368" y="250545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</a:rPr>
              <a:t>③ Fuse Bits setzen (einmalig)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8368" y="279806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</a:rPr>
              <a:t>④ Firmware flashen (.hex)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8368" y="309067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</a:rPr>
              <a:t>⑤ Funktionstest: SW1 drücken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58368" y="3493008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7DD2"/>
                </a:solidFill>
              </a:rPr>
              <a:t>Testpunkte – Sollwerte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58368" y="376732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7DD2"/>
                </a:solidFill>
              </a:rPr>
              <a:t>JTP1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43000" y="3767328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8D"/>
                </a:solidFill>
              </a:rPr>
              <a:t>USB_5V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039112" y="3767328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</a:rPr>
              <a:t>4,8–5,2 V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58368" y="3941064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7DD2"/>
                </a:solidFill>
              </a:rPr>
              <a:t>JTP2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43000" y="3941064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8D"/>
                </a:solidFill>
              </a:rPr>
              <a:t>+5V_BOARD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039112" y="3941064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</a:rPr>
              <a:t>≈ JTP1 ±50 mV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58368" y="411480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7DD2"/>
                </a:solidFill>
              </a:rPr>
              <a:t>JTP4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43000" y="4114800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8D"/>
                </a:solidFill>
              </a:rPr>
              <a:t>LM317_OUT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039112" y="4114800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</a:rPr>
              <a:t>≈ 4,5 V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58368" y="4288536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7DD2"/>
                </a:solidFill>
              </a:rPr>
              <a:t>JTP6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" y="4288536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8D"/>
                </a:solidFill>
              </a:rPr>
              <a:t>ADC_MEAS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039112" y="4288536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</a:rPr>
              <a:t>0 → 1,1 V linear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58368" y="44622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7DD2"/>
                </a:solidFill>
              </a:rPr>
              <a:t>JTP10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43000" y="4462272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A8D"/>
                </a:solidFill>
              </a:rPr>
              <a:t>DISCH_GATE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039112" y="4462272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</a:rPr>
              <a:t>LOW / HIGH (Entl.)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520440" y="1508760"/>
            <a:ext cx="530352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520440" y="1508760"/>
            <a:ext cx="54864" cy="30632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21608" y="158191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</a:rPr>
              <a:t>Messprotokoll – Referenzkondensatoren</a:t>
            </a:r>
            <a:endParaRPr lang="en-US" sz="11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21608" y="1965960"/>
          <a:ext cx="4937760" cy="21488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DUT (Nennwert)</a:t>
                      </a:r>
                      <a:endParaRPr lang="en-US" sz="1050" dirty="0"/>
                    </a:p>
                  </a:txBody>
                  <a:tcPr>
                    <a:lnL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Toleranz ±20%</a:t>
                      </a:r>
                      <a:endParaRPr lang="en-US" sz="1050" dirty="0"/>
                    </a:p>
                  </a:txBody>
                  <a:tcPr>
                    <a:lnL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Messwert</a:t>
                      </a:r>
                      <a:endParaRPr lang="en-US" sz="1050" dirty="0"/>
                    </a:p>
                  </a:txBody>
                  <a:tcPr>
                    <a:lnL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OK?</a:t>
                      </a:r>
                      <a:endParaRPr lang="en-US" sz="1050" dirty="0"/>
                    </a:p>
                  </a:txBody>
                  <a:tcPr>
                    <a:lnL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100 µF</a:t>
                      </a:r>
                      <a:endParaRPr lang="en-US" sz="1050" dirty="0"/>
                    </a:p>
                  </a:txBody>
                  <a:tcPr>
                    <a:lnL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80 – 120 µF</a:t>
                      </a:r>
                      <a:endParaRPr lang="en-US" sz="1050" dirty="0"/>
                    </a:p>
                  </a:txBody>
                  <a:tcPr>
                    <a:lnL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— µF</a:t>
                      </a:r>
                      <a:endParaRPr lang="en-US" sz="1050" dirty="0"/>
                    </a:p>
                  </a:txBody>
                  <a:tcPr>
                    <a:lnL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⏳</a:t>
                      </a:r>
                      <a:endParaRPr lang="en-US" sz="1050" dirty="0"/>
                    </a:p>
                  </a:txBody>
                  <a:tcPr>
                    <a:lnL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1.000 µF</a:t>
                      </a:r>
                      <a:endParaRPr lang="en-US" sz="1050" dirty="0"/>
                    </a:p>
                  </a:txBody>
                  <a:tcPr>
                    <a:lnL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800 – 1.200 µF</a:t>
                      </a:r>
                      <a:endParaRPr lang="en-US" sz="1050" dirty="0"/>
                    </a:p>
                  </a:txBody>
                  <a:tcPr>
                    <a:lnL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— µF</a:t>
                      </a:r>
                      <a:endParaRPr lang="en-US" sz="1050" dirty="0"/>
                    </a:p>
                  </a:txBody>
                  <a:tcPr>
                    <a:lnL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⏳</a:t>
                      </a:r>
                      <a:endParaRPr lang="en-US" sz="1050" dirty="0"/>
                    </a:p>
                  </a:txBody>
                  <a:tcPr>
                    <a:lnL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4.700 µF</a:t>
                      </a:r>
                      <a:endParaRPr lang="en-US" sz="1050" dirty="0"/>
                    </a:p>
                  </a:txBody>
                  <a:tcPr>
                    <a:lnL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3.760 – 5.640 µF</a:t>
                      </a:r>
                      <a:endParaRPr lang="en-US" sz="1050" dirty="0"/>
                    </a:p>
                  </a:txBody>
                  <a:tcPr>
                    <a:lnL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— µF</a:t>
                      </a:r>
                      <a:endParaRPr lang="en-US" sz="1050" dirty="0"/>
                    </a:p>
                  </a:txBody>
                  <a:tcPr>
                    <a:lnL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⏳</a:t>
                      </a:r>
                      <a:endParaRPr lang="en-US" sz="1050" dirty="0"/>
                    </a:p>
                  </a:txBody>
                  <a:tcPr>
                    <a:lnL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10.000 µF</a:t>
                      </a:r>
                      <a:endParaRPr lang="en-US" sz="1050" dirty="0"/>
                    </a:p>
                  </a:txBody>
                  <a:tcPr>
                    <a:lnL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8.000 – 12.000 µF</a:t>
                      </a:r>
                      <a:endParaRPr lang="en-US" sz="1050" dirty="0"/>
                    </a:p>
                  </a:txBody>
                  <a:tcPr>
                    <a:lnL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— µF</a:t>
                      </a:r>
                      <a:endParaRPr lang="en-US" sz="1050" dirty="0"/>
                    </a:p>
                  </a:txBody>
                  <a:tcPr>
                    <a:lnL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⏳</a:t>
                      </a:r>
                      <a:endParaRPr lang="en-US" sz="1050" dirty="0"/>
                    </a:p>
                  </a:txBody>
                  <a:tcPr>
                    <a:lnL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Verpoltest</a:t>
                      </a:r>
                      <a:endParaRPr lang="en-US" sz="1050" dirty="0"/>
                    </a:p>
                  </a:txBody>
                  <a:tcPr>
                    <a:lnL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Fehleranzeige, kein Schaden</a:t>
                      </a:r>
                      <a:endParaRPr lang="en-US" sz="1050" dirty="0"/>
                    </a:p>
                  </a:txBody>
                  <a:tcPr>
                    <a:lnL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>
                    <a:lnL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⏳</a:t>
                      </a:r>
                      <a:endParaRPr lang="en-US" sz="1050" dirty="0"/>
                    </a:p>
                  </a:txBody>
                  <a:tcPr>
                    <a:lnL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6" name="Text 33"/>
          <p:cNvSpPr/>
          <p:nvPr/>
        </p:nvSpPr>
        <p:spPr>
          <a:xfrm>
            <a:off x="3520440" y="457200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39C12"/>
                </a:solidFill>
              </a:rPr>
              <a:t>⏳  Platzhalter – Messwerte nach V2-Inbetriebnahme eintragen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09  Fazit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Fazit &amp; Selbstreflexion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8D"/>
                </a:solidFill>
              </a:rPr>
              <a:t>Was habe ich gelernt?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D"/>
                </a:solidFill>
              </a:rPr>
              <a:t>KapTester V2  ·  Nico Schmidt  ·  IHK Osnabrück AP2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D"/>
                </a:solidFill>
              </a:rPr>
              <a:t>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508760"/>
            <a:ext cx="54864" cy="16916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5819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</a:rPr>
              <a:t>✓  Was gut lief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1947672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</a:rPr>
              <a:t>Vollständige KiCad-Toolchain (Schaltplan → PCB → Gerber)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</a:rPr>
              <a:t>SMD-Löten mit Flux – zugänglicher als erwartet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</a:rPr>
              <a:t>Fehler früh erkannt und systematisch analysiert (Risikoanalyse)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50876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508760"/>
            <a:ext cx="54864" cy="16916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15819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</a:rPr>
              <a:t>✗  Größter Fehler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10328" y="1947672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b="1" dirty="0">
                <a:solidFill>
                  <a:srgbClr val="1A2E4A"/>
                </a:solidFill>
              </a:rPr>
              <a:t>Symbol ≠ Footprint ≠ Datenblatt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B7A8D"/>
                </a:solidFill>
              </a:rPr>
              <a:t>→ V1 komplett nicht funktional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</a:rPr>
              <a:t>Lektion: Immer Datenblatt vor Bestellung prüfen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337560"/>
            <a:ext cx="54864" cy="14630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4107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</a:rPr>
              <a:t>→  Was würde ich anders machen?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" y="37947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</a:rPr>
              <a:t>Steckbrett-Test vor PCB-Design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</a:rPr>
              <a:t>Footprint + Symbol IMMER sofort mit Datenblatt abgleichen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</a:rPr>
              <a:t>Mehr Puffer bei Hardware-Projekten einplanen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333756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337560"/>
            <a:ext cx="54864" cy="146304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0328" y="34107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7DD2"/>
                </a:solidFill>
              </a:rPr>
              <a:t>💡  Verbesserungspotenzial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10328" y="37947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</a:rPr>
              <a:t>Gehäuse (3D-Druck) → alltagstauglicher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</a:rPr>
              <a:t>Kalibrierung → von ±20% auf ±5%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</a:rPr>
              <a:t>ESR-Messung als nächste Erweiterung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Vielen Dank!</a:t>
            </a:r>
            <a:endParaRPr lang="en-US" sz="58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457200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</a:rPr>
              <a:t>Ich stehe für Fragen zur Verfügung.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2011680" cy="1188720"/>
          </a:xfrm>
          <a:prstGeom prst="rect">
            <a:avLst/>
          </a:prstGeom>
          <a:solidFill>
            <a:srgbClr val="0D1F33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88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∿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2186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AFD4"/>
                </a:solidFill>
              </a:rPr>
              <a:t>Messprinzip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C = I · t / U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06040" y="2743200"/>
            <a:ext cx="2011680" cy="1188720"/>
          </a:xfrm>
          <a:prstGeom prst="rect">
            <a:avLst/>
          </a:prstGeom>
          <a:solidFill>
            <a:srgbClr val="0D1F33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2788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⬡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06040" y="32186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AFD4"/>
                </a:solidFill>
              </a:rPr>
              <a:t>Hardware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06040" y="3474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ATmega + LM317 + PMOS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2743200"/>
            <a:ext cx="2011680" cy="1188720"/>
          </a:xfrm>
          <a:prstGeom prst="rect">
            <a:avLst/>
          </a:prstGeom>
          <a:solidFill>
            <a:srgbClr val="0D1F33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788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✕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54880" y="32186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AFD4"/>
                </a:solidFill>
              </a:rPr>
              <a:t>Fehler → Fix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3474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Footprint-Fail: DIP-28→TQFP-32 + R20 + Gate-Teiler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903720" y="2743200"/>
            <a:ext cx="2011680" cy="1188720"/>
          </a:xfrm>
          <a:prstGeom prst="rect">
            <a:avLst/>
          </a:prstGeom>
          <a:solidFill>
            <a:srgbClr val="0D1F33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2788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✓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03720" y="32186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AFD4"/>
                </a:solidFill>
              </a:rPr>
              <a:t>Ergebnis V2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03720" y="3474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Idee → KiCad → Platine + Bauteile → FW1 (Simple) · FW2 (Testware) · FW3 (Ausgereift) → Abnahme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</a:rPr>
              <a:t>Nico Schmidt  ·  (133)-1251  ·  GBS TEMPEST und Service GmbH  ·  IHK Osnabrück AP2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1447</Words>
  <Application>Microsoft Office PowerPoint</Application>
  <PresentationFormat>Bildschirmpräsentation (16:9)</PresentationFormat>
  <Paragraphs>306</Paragraphs>
  <Slides>12</Slides>
  <Notes>12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Courier New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KapTester V2 – Betrieblicher Auftrag AP2 2026</dc:title>
  <dc:subject>PptxGenJS Presentation</dc:subject>
  <dc:creator>Nico Schmidt</dc:creator>
  <cp:lastModifiedBy>Nico Schmidt</cp:lastModifiedBy>
  <cp:revision>1</cp:revision>
  <dcterms:created xsi:type="dcterms:W3CDTF">2026-05-07T08:25:18Z</dcterms:created>
  <dcterms:modified xsi:type="dcterms:W3CDTF">2026-05-07T08:58:37Z</dcterms:modified>
</cp:coreProperties>
</file>